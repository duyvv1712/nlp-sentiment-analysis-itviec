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B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785023" y="770891"/>
            <a:ext cx="28363" cy="28363"/>
          </a:xfrm>
          <a:prstGeom prst="ellipse">
            <a:avLst/>
          </a:prstGeom>
          <a:solidFill>
            <a:srgbClr val="527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003441" y="2038357"/>
            <a:ext cx="23146" cy="23146"/>
          </a:xfrm>
          <a:prstGeom prst="ellipse">
            <a:avLst/>
          </a:prstGeom>
          <a:solidFill>
            <a:srgbClr val="527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958556" y="1944717"/>
            <a:ext cx="17144" cy="17144"/>
          </a:xfrm>
          <a:prstGeom prst="ellipse">
            <a:avLst/>
          </a:prstGeom>
          <a:solidFill>
            <a:srgbClr val="527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126427" y="504272"/>
            <a:ext cx="18118" cy="18118"/>
          </a:xfrm>
          <a:prstGeom prst="ellipse">
            <a:avLst/>
          </a:prstGeom>
          <a:solidFill>
            <a:srgbClr val="527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098053" y="2996184"/>
            <a:ext cx="18723" cy="18723"/>
          </a:xfrm>
          <a:prstGeom prst="ellipse">
            <a:avLst/>
          </a:prstGeom>
          <a:solidFill>
            <a:srgbClr val="527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472281" y="2339729"/>
            <a:ext cx="33790" cy="33790"/>
          </a:xfrm>
          <a:prstGeom prst="ellipse">
            <a:avLst/>
          </a:prstGeom>
          <a:solidFill>
            <a:srgbClr val="527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572429" y="1580128"/>
            <a:ext cx="34312" cy="34312"/>
          </a:xfrm>
          <a:prstGeom prst="ellipse">
            <a:avLst/>
          </a:prstGeom>
          <a:solidFill>
            <a:srgbClr val="527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923063" y="3100260"/>
            <a:ext cx="21755" cy="21755"/>
          </a:xfrm>
          <a:prstGeom prst="ellipse">
            <a:avLst/>
          </a:prstGeom>
          <a:solidFill>
            <a:srgbClr val="527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226723" y="662073"/>
            <a:ext cx="22100" cy="22100"/>
          </a:xfrm>
          <a:prstGeom prst="ellipse">
            <a:avLst/>
          </a:prstGeom>
          <a:solidFill>
            <a:srgbClr val="527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315544" y="869242"/>
            <a:ext cx="27095" cy="27095"/>
          </a:xfrm>
          <a:prstGeom prst="ellipse">
            <a:avLst/>
          </a:prstGeom>
          <a:solidFill>
            <a:srgbClr val="527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764596" y="1500193"/>
            <a:ext cx="26476" cy="26476"/>
          </a:xfrm>
          <a:prstGeom prst="ellipse">
            <a:avLst/>
          </a:prstGeom>
          <a:solidFill>
            <a:srgbClr val="527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973448" y="470517"/>
            <a:ext cx="20225" cy="20225"/>
          </a:xfrm>
          <a:prstGeom prst="ellipse">
            <a:avLst/>
          </a:prstGeom>
          <a:solidFill>
            <a:srgbClr val="527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893576" y="1681885"/>
            <a:ext cx="22204" cy="22204"/>
          </a:xfrm>
          <a:prstGeom prst="ellipse">
            <a:avLst/>
          </a:prstGeom>
          <a:solidFill>
            <a:srgbClr val="527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598728" y="1766130"/>
            <a:ext cx="21941" cy="21941"/>
          </a:xfrm>
          <a:prstGeom prst="ellipse">
            <a:avLst/>
          </a:prstGeom>
          <a:solidFill>
            <a:srgbClr val="527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1247934" y="2575297"/>
            <a:ext cx="20923" cy="20923"/>
          </a:xfrm>
          <a:prstGeom prst="ellipse">
            <a:avLst/>
          </a:prstGeom>
          <a:solidFill>
            <a:srgbClr val="527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64100" y="2003182"/>
            <a:ext cx="32463" cy="32463"/>
          </a:xfrm>
          <a:prstGeom prst="ellipse">
            <a:avLst/>
          </a:prstGeom>
          <a:solidFill>
            <a:srgbClr val="527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1046056" y="1222165"/>
            <a:ext cx="34384" cy="34384"/>
          </a:xfrm>
          <a:prstGeom prst="ellipse">
            <a:avLst/>
          </a:prstGeom>
          <a:solidFill>
            <a:srgbClr val="527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145301" y="1650713"/>
            <a:ext cx="30305" cy="30305"/>
          </a:xfrm>
          <a:prstGeom prst="ellipse">
            <a:avLst/>
          </a:prstGeom>
          <a:solidFill>
            <a:srgbClr val="527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250753" y="1883908"/>
            <a:ext cx="17176" cy="17176"/>
          </a:xfrm>
          <a:prstGeom prst="ellipse">
            <a:avLst/>
          </a:prstGeom>
          <a:solidFill>
            <a:srgbClr val="527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855696" y="2791164"/>
            <a:ext cx="26938" cy="26938"/>
          </a:xfrm>
          <a:prstGeom prst="ellipse">
            <a:avLst/>
          </a:prstGeom>
          <a:solidFill>
            <a:srgbClr val="527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1500065" y="1307126"/>
            <a:ext cx="29174" cy="29174"/>
          </a:xfrm>
          <a:prstGeom prst="ellipse">
            <a:avLst/>
          </a:prstGeom>
          <a:solidFill>
            <a:srgbClr val="527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626112" y="2183242"/>
            <a:ext cx="24802" cy="24802"/>
          </a:xfrm>
          <a:prstGeom prst="ellipse">
            <a:avLst/>
          </a:prstGeom>
          <a:solidFill>
            <a:srgbClr val="527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1389666" y="3384059"/>
            <a:ext cx="25129" cy="25129"/>
          </a:xfrm>
          <a:prstGeom prst="ellipse">
            <a:avLst/>
          </a:prstGeom>
          <a:solidFill>
            <a:srgbClr val="527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0843062" y="474034"/>
            <a:ext cx="29288" cy="29288"/>
          </a:xfrm>
          <a:prstGeom prst="ellipse">
            <a:avLst/>
          </a:prstGeom>
          <a:solidFill>
            <a:srgbClr val="527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0790137" y="3543432"/>
            <a:ext cx="31490" cy="31490"/>
          </a:xfrm>
          <a:prstGeom prst="ellipse">
            <a:avLst/>
          </a:prstGeom>
          <a:solidFill>
            <a:srgbClr val="527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663036" y="1544283"/>
            <a:ext cx="28687" cy="28687"/>
          </a:xfrm>
          <a:prstGeom prst="ellipse">
            <a:avLst/>
          </a:prstGeom>
          <a:solidFill>
            <a:srgbClr val="527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848387" y="1794147"/>
            <a:ext cx="19532" cy="19532"/>
          </a:xfrm>
          <a:prstGeom prst="ellipse">
            <a:avLst/>
          </a:prstGeom>
          <a:solidFill>
            <a:srgbClr val="527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9142286" y="468388"/>
            <a:ext cx="30508" cy="30508"/>
          </a:xfrm>
          <a:prstGeom prst="ellipse">
            <a:avLst/>
          </a:prstGeom>
          <a:solidFill>
            <a:srgbClr val="527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180353" y="1089428"/>
            <a:ext cx="23608" cy="23608"/>
          </a:xfrm>
          <a:prstGeom prst="ellipse">
            <a:avLst/>
          </a:prstGeom>
          <a:solidFill>
            <a:srgbClr val="527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1487456" y="539580"/>
            <a:ext cx="24673" cy="24673"/>
          </a:xfrm>
          <a:prstGeom prst="ellipse">
            <a:avLst/>
          </a:prstGeom>
          <a:solidFill>
            <a:srgbClr val="527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486426" y="3182278"/>
            <a:ext cx="31442" cy="31442"/>
          </a:xfrm>
          <a:prstGeom prst="ellipse">
            <a:avLst/>
          </a:prstGeom>
          <a:solidFill>
            <a:srgbClr val="527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1464333" y="1190837"/>
            <a:ext cx="24054" cy="24054"/>
          </a:xfrm>
          <a:prstGeom prst="ellipse">
            <a:avLst/>
          </a:prstGeom>
          <a:solidFill>
            <a:srgbClr val="527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9893645" y="3184941"/>
            <a:ext cx="33974" cy="33974"/>
          </a:xfrm>
          <a:prstGeom prst="ellipse">
            <a:avLst/>
          </a:prstGeom>
          <a:solidFill>
            <a:srgbClr val="527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9247447" y="854400"/>
            <a:ext cx="20701" cy="20701"/>
          </a:xfrm>
          <a:prstGeom prst="ellipse">
            <a:avLst/>
          </a:prstGeom>
          <a:solidFill>
            <a:srgbClr val="527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9503672" y="1870739"/>
            <a:ext cx="27233" cy="27233"/>
          </a:xfrm>
          <a:prstGeom prst="ellipse">
            <a:avLst/>
          </a:prstGeom>
          <a:solidFill>
            <a:srgbClr val="527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9595108" y="287795"/>
            <a:ext cx="24120" cy="24120"/>
          </a:xfrm>
          <a:prstGeom prst="ellipse">
            <a:avLst/>
          </a:prstGeom>
          <a:solidFill>
            <a:srgbClr val="527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9926234" y="2138624"/>
            <a:ext cx="33889" cy="33889"/>
          </a:xfrm>
          <a:prstGeom prst="ellipse">
            <a:avLst/>
          </a:prstGeom>
          <a:solidFill>
            <a:srgbClr val="527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0924957" y="1971235"/>
            <a:ext cx="27753" cy="27753"/>
          </a:xfrm>
          <a:prstGeom prst="ellipse">
            <a:avLst/>
          </a:prstGeom>
          <a:solidFill>
            <a:srgbClr val="527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0880519" y="452055"/>
            <a:ext cx="32909" cy="32909"/>
          </a:xfrm>
          <a:prstGeom prst="ellipse">
            <a:avLst/>
          </a:prstGeom>
          <a:solidFill>
            <a:srgbClr val="527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1203133" y="3153077"/>
            <a:ext cx="31050" cy="31050"/>
          </a:xfrm>
          <a:prstGeom prst="ellipse">
            <a:avLst/>
          </a:prstGeom>
          <a:solidFill>
            <a:srgbClr val="527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9998130" y="1587694"/>
            <a:ext cx="18352" cy="18352"/>
          </a:xfrm>
          <a:prstGeom prst="ellipse">
            <a:avLst/>
          </a:prstGeom>
          <a:solidFill>
            <a:srgbClr val="527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0750220" y="479229"/>
            <a:ext cx="17690" cy="17690"/>
          </a:xfrm>
          <a:prstGeom prst="ellipse">
            <a:avLst/>
          </a:prstGeom>
          <a:solidFill>
            <a:srgbClr val="527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9427276" y="808596"/>
            <a:ext cx="22678" cy="22678"/>
          </a:xfrm>
          <a:prstGeom prst="ellipse">
            <a:avLst/>
          </a:prstGeom>
          <a:solidFill>
            <a:srgbClr val="527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8941695" y="275087"/>
            <a:ext cx="19225" cy="19225"/>
          </a:xfrm>
          <a:prstGeom prst="ellipse">
            <a:avLst/>
          </a:prstGeom>
          <a:solidFill>
            <a:srgbClr val="527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9093688" y="1471265"/>
            <a:ext cx="16925" cy="16925"/>
          </a:xfrm>
          <a:prstGeom prst="ellipse">
            <a:avLst/>
          </a:prstGeom>
          <a:solidFill>
            <a:srgbClr val="527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1496504" y="2295736"/>
            <a:ext cx="19175" cy="19175"/>
          </a:xfrm>
          <a:prstGeom prst="ellipse">
            <a:avLst/>
          </a:prstGeom>
          <a:solidFill>
            <a:srgbClr val="527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9562499" y="1417870"/>
            <a:ext cx="23119" cy="23119"/>
          </a:xfrm>
          <a:prstGeom prst="ellipse">
            <a:avLst/>
          </a:prstGeom>
          <a:solidFill>
            <a:srgbClr val="527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9160151" y="3068884"/>
            <a:ext cx="34621" cy="34621"/>
          </a:xfrm>
          <a:prstGeom prst="ellipse">
            <a:avLst/>
          </a:prstGeom>
          <a:solidFill>
            <a:srgbClr val="527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10226982" y="1867026"/>
            <a:ext cx="18029" cy="18029"/>
          </a:xfrm>
          <a:prstGeom prst="ellipse">
            <a:avLst/>
          </a:prstGeom>
          <a:solidFill>
            <a:srgbClr val="527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9095937" y="1402222"/>
            <a:ext cx="21301" cy="21301"/>
          </a:xfrm>
          <a:prstGeom prst="ellipse">
            <a:avLst/>
          </a:prstGeom>
          <a:solidFill>
            <a:srgbClr val="527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11355118" y="805750"/>
            <a:ext cx="16881" cy="16881"/>
          </a:xfrm>
          <a:prstGeom prst="ellipse">
            <a:avLst/>
          </a:prstGeom>
          <a:solidFill>
            <a:srgbClr val="527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11734816" y="2013258"/>
            <a:ext cx="19140" cy="19140"/>
          </a:xfrm>
          <a:prstGeom prst="ellipse">
            <a:avLst/>
          </a:prstGeom>
          <a:solidFill>
            <a:srgbClr val="527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10466941" y="363339"/>
            <a:ext cx="26117" cy="26117"/>
          </a:xfrm>
          <a:prstGeom prst="ellipse">
            <a:avLst/>
          </a:prstGeom>
          <a:solidFill>
            <a:srgbClr val="527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11820361" y="3116247"/>
            <a:ext cx="29191" cy="29191"/>
          </a:xfrm>
          <a:prstGeom prst="ellipse">
            <a:avLst/>
          </a:prstGeom>
          <a:solidFill>
            <a:srgbClr val="527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9590036" y="1481437"/>
            <a:ext cx="19514" cy="19514"/>
          </a:xfrm>
          <a:prstGeom prst="ellipse">
            <a:avLst/>
          </a:prstGeom>
          <a:solidFill>
            <a:srgbClr val="527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11178164" y="2027528"/>
            <a:ext cx="30706" cy="30706"/>
          </a:xfrm>
          <a:prstGeom prst="ellipse">
            <a:avLst/>
          </a:prstGeom>
          <a:solidFill>
            <a:srgbClr val="527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9803155" y="1008537"/>
            <a:ext cx="31300" cy="31300"/>
          </a:xfrm>
          <a:prstGeom prst="ellipse">
            <a:avLst/>
          </a:prstGeom>
          <a:solidFill>
            <a:srgbClr val="527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11840335" y="3081037"/>
            <a:ext cx="31200" cy="31200"/>
          </a:xfrm>
          <a:prstGeom prst="ellipse">
            <a:avLst/>
          </a:prstGeom>
          <a:solidFill>
            <a:srgbClr val="527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11322404" y="2709863"/>
            <a:ext cx="20605" cy="20605"/>
          </a:xfrm>
          <a:prstGeom prst="ellipse">
            <a:avLst/>
          </a:prstGeom>
          <a:solidFill>
            <a:srgbClr val="527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10387558" y="1444775"/>
            <a:ext cx="16989" cy="16989"/>
          </a:xfrm>
          <a:prstGeom prst="ellipse">
            <a:avLst/>
          </a:prstGeom>
          <a:solidFill>
            <a:srgbClr val="527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0" y="5989320"/>
            <a:ext cx="12191695" cy="38100"/>
          </a:xfrm>
          <a:prstGeom prst="rect">
            <a:avLst/>
          </a:prstGeom>
          <a:solidFill>
            <a:srgbClr val="7AA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02920" y="1298448"/>
            <a:ext cx="640080" cy="50800"/>
          </a:xfrm>
          <a:prstGeom prst="rect">
            <a:avLst/>
          </a:prstGeom>
          <a:solidFill>
            <a:srgbClr val="50E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02920" y="502920"/>
            <a:ext cx="457200" cy="457200"/>
          </a:xfrm>
          <a:prstGeom prst="rect">
            <a:avLst/>
          </a:prstGeom>
          <a:solidFill>
            <a:srgbClr val="141A24"/>
          </a:solidFill>
          <a:ln w="12700">
            <a:solidFill>
              <a:srgbClr val="2A33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ounded Rectangle 66"/>
          <p:cNvSpPr/>
          <p:nvPr/>
        </p:nvSpPr>
        <p:spPr>
          <a:xfrm>
            <a:off x="603504" y="603504"/>
            <a:ext cx="256032" cy="182880"/>
          </a:xfrm>
          <a:prstGeom prst="roundRect">
            <a:avLst>
              <a:gd name="adj" fmla="val 45000"/>
            </a:avLst>
          </a:prstGeom>
          <a:noFill/>
          <a:ln w="13970">
            <a:solidFill>
              <a:srgbClr val="7AA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658368" y="676656"/>
            <a:ext cx="34290" cy="34290"/>
          </a:xfrm>
          <a:prstGeom prst="ellipse">
            <a:avLst/>
          </a:prstGeom>
          <a:solidFill>
            <a:srgbClr val="50E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731520" y="676656"/>
            <a:ext cx="34290" cy="34290"/>
          </a:xfrm>
          <a:prstGeom prst="ellipse">
            <a:avLst/>
          </a:prstGeom>
          <a:solidFill>
            <a:srgbClr val="7AA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804672" y="676656"/>
            <a:ext cx="34290" cy="34290"/>
          </a:xfrm>
          <a:prstGeom prst="ellipse">
            <a:avLst/>
          </a:prstGeom>
          <a:solidFill>
            <a:srgbClr val="F4D3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069848" y="54864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A0ADBF"/>
                </a:solidFill>
                <a:latin typeface="Segoe UI"/>
              </a:rPr>
              <a:t>SENTIMENT LAB  ·  NLP CAPSTONE 2026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02920" y="146304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7AA7FF"/>
                </a:solidFill>
                <a:latin typeface="Segoe UI"/>
              </a:rPr>
              <a:t>ĐỒ ÁN TỐT NGHIỆP — MÔN XỬ LÝ NGÔN NGỮ TỰ NHIÊN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02920" y="1874519"/>
            <a:ext cx="1115568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3300" b="1">
                <a:solidFill>
                  <a:srgbClr val="F1F5F9"/>
                </a:solidFill>
                <a:latin typeface="Segoe UI"/>
              </a:rPr>
              <a:t>PHÂN TÍCH CẢM XÚC ĐÁNH GIÁ NHÂN VIÊN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3300" b="1">
                <a:solidFill>
                  <a:srgbClr val="F1F5F9"/>
                </a:solidFill>
                <a:latin typeface="Segoe UI"/>
              </a:rPr>
              <a:t>NGÀNH CÔNG NGHỆ THÔNG TIN TRÊN ITVIEC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02920" y="320040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A0ADBF"/>
                </a:solidFill>
                <a:latin typeface="Segoe UI"/>
              </a:rPr>
              <a:t>Machine Learning truyền thống · Stacking Ensemble · Deep Learning ViSoBERT · Explainable AI</a:t>
            </a:r>
          </a:p>
        </p:txBody>
      </p:sp>
      <p:sp>
        <p:nvSpPr>
          <p:cNvPr id="75" name="Rectangle 74"/>
          <p:cNvSpPr/>
          <p:nvPr/>
        </p:nvSpPr>
        <p:spPr>
          <a:xfrm>
            <a:off x="502920" y="3794760"/>
            <a:ext cx="7242048" cy="1417320"/>
          </a:xfrm>
          <a:prstGeom prst="rect">
            <a:avLst/>
          </a:prstGeom>
          <a:solidFill>
            <a:srgbClr val="141A24"/>
          </a:solidFill>
          <a:ln w="12700">
            <a:solidFill>
              <a:srgbClr val="242C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731520" y="3941064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7AA7FF"/>
                </a:solidFill>
                <a:latin typeface="Segoe UI"/>
              </a:rPr>
              <a:t>GIẢNG VIÊN HƯỚNG DẪN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31520" y="4270248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1F5F9"/>
                </a:solidFill>
                <a:latin typeface="Segoe UI"/>
              </a:rPr>
              <a:t>Thầy Đặng Văn Thìn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31520" y="4690872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A0ADBF"/>
                </a:solidFill>
                <a:latin typeface="Segoe UI"/>
              </a:rPr>
              <a:t>Khoa Công nghệ Thông tin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251959" y="3941064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50E3A4"/>
                </a:solidFill>
                <a:latin typeface="Segoe UI"/>
              </a:rPr>
              <a:t>NHÓM THỰC HIỆN — NHÓM 4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251959" y="4270248"/>
            <a:ext cx="3383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80" b="0">
                <a:solidFill>
                  <a:srgbClr val="A0ADBF"/>
                </a:solidFill>
                <a:latin typeface="Segoe UI"/>
              </a:rPr>
              <a:t>Hoàng Hôn  ·  Trưởng nhóm / Tech Lead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251959" y="4494276"/>
            <a:ext cx="3383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80" b="0">
                <a:solidFill>
                  <a:srgbClr val="A0ADBF"/>
                </a:solidFill>
                <a:latin typeface="Segoe UI"/>
              </a:rPr>
              <a:t>Văn Duy  ·  Data &amp; Research Specialist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251959" y="4718304"/>
            <a:ext cx="3383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80" b="0">
                <a:solidFill>
                  <a:srgbClr val="A0ADBF"/>
                </a:solidFill>
                <a:latin typeface="Segoe UI"/>
              </a:rPr>
              <a:t>Duy Khang  ·  Machine Learning Specialist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251959" y="4942332"/>
            <a:ext cx="3383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80" b="0">
                <a:solidFill>
                  <a:srgbClr val="A0ADBF"/>
                </a:solidFill>
                <a:latin typeface="Segoe UI"/>
              </a:rPr>
              <a:t>Thành Trung  ·  UI/UX &amp; Deployment Specialist</a:t>
            </a:r>
          </a:p>
        </p:txBody>
      </p:sp>
      <p:sp>
        <p:nvSpPr>
          <p:cNvPr id="84" name="Rectangle 83"/>
          <p:cNvSpPr/>
          <p:nvPr/>
        </p:nvSpPr>
        <p:spPr>
          <a:xfrm>
            <a:off x="8366760" y="3794760"/>
            <a:ext cx="1417320" cy="662940"/>
          </a:xfrm>
          <a:prstGeom prst="rect">
            <a:avLst/>
          </a:prstGeom>
          <a:solidFill>
            <a:srgbClr val="141A24"/>
          </a:solidFill>
          <a:ln w="12700">
            <a:solidFill>
              <a:srgbClr val="242C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8503920" y="3867912"/>
            <a:ext cx="1143000" cy="31750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7AA7FF"/>
                </a:solidFill>
                <a:latin typeface="Segoe UI"/>
              </a:rPr>
              <a:t>8.417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503920" y="4221988"/>
            <a:ext cx="1143000" cy="1808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A0ADBF"/>
                </a:solidFill>
                <a:latin typeface="Segoe UI"/>
              </a:rPr>
              <a:t>review</a:t>
            </a:r>
          </a:p>
        </p:txBody>
      </p:sp>
      <p:sp>
        <p:nvSpPr>
          <p:cNvPr id="87" name="Rectangle 86"/>
          <p:cNvSpPr/>
          <p:nvPr/>
        </p:nvSpPr>
        <p:spPr>
          <a:xfrm>
            <a:off x="9921240" y="3794760"/>
            <a:ext cx="1417320" cy="662940"/>
          </a:xfrm>
          <a:prstGeom prst="rect">
            <a:avLst/>
          </a:prstGeom>
          <a:solidFill>
            <a:srgbClr val="141A24"/>
          </a:solidFill>
          <a:ln w="12700">
            <a:solidFill>
              <a:srgbClr val="242C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10058400" y="3867912"/>
            <a:ext cx="1143000" cy="31750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50E3A4"/>
                </a:solidFill>
                <a:latin typeface="Segoe UI"/>
              </a:rPr>
              <a:t>7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058400" y="4221988"/>
            <a:ext cx="1143000" cy="1808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A0ADBF"/>
                </a:solidFill>
                <a:latin typeface="Segoe UI"/>
              </a:rPr>
              <a:t>mô hình</a:t>
            </a:r>
          </a:p>
        </p:txBody>
      </p:sp>
      <p:sp>
        <p:nvSpPr>
          <p:cNvPr id="90" name="Rectangle 89"/>
          <p:cNvSpPr/>
          <p:nvPr/>
        </p:nvSpPr>
        <p:spPr>
          <a:xfrm>
            <a:off x="8366760" y="4594860"/>
            <a:ext cx="1417320" cy="662940"/>
          </a:xfrm>
          <a:prstGeom prst="rect">
            <a:avLst/>
          </a:prstGeom>
          <a:solidFill>
            <a:srgbClr val="141A24"/>
          </a:solidFill>
          <a:ln w="12700">
            <a:solidFill>
              <a:srgbClr val="242C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8503920" y="4668012"/>
            <a:ext cx="1143000" cy="31750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4D35E"/>
                </a:solidFill>
                <a:latin typeface="Segoe UI"/>
              </a:rPr>
              <a:t>0.5619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8503920" y="5022088"/>
            <a:ext cx="1143000" cy="1808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A0ADBF"/>
                </a:solidFill>
                <a:latin typeface="Segoe UI"/>
              </a:rPr>
              <a:t>CV Macro F1</a:t>
            </a:r>
          </a:p>
        </p:txBody>
      </p:sp>
      <p:sp>
        <p:nvSpPr>
          <p:cNvPr id="93" name="Rectangle 92"/>
          <p:cNvSpPr/>
          <p:nvPr/>
        </p:nvSpPr>
        <p:spPr>
          <a:xfrm>
            <a:off x="9921240" y="4594860"/>
            <a:ext cx="1417320" cy="662940"/>
          </a:xfrm>
          <a:prstGeom prst="rect">
            <a:avLst/>
          </a:prstGeom>
          <a:solidFill>
            <a:srgbClr val="141A24"/>
          </a:solidFill>
          <a:ln w="12700">
            <a:solidFill>
              <a:srgbClr val="242C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10058400" y="4668012"/>
            <a:ext cx="1143000" cy="31750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994F"/>
                </a:solidFill>
                <a:latin typeface="Segoe UI"/>
              </a:rPr>
              <a:t>55/55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0058400" y="5022088"/>
            <a:ext cx="1143000" cy="1808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A0ADBF"/>
                </a:solidFill>
                <a:latin typeface="Segoe UI"/>
              </a:rPr>
              <a:t>test passed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B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7AA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14455" y="256032"/>
            <a:ext cx="365760" cy="365760"/>
          </a:xfrm>
          <a:prstGeom prst="rect">
            <a:avLst/>
          </a:prstGeom>
          <a:solidFill>
            <a:srgbClr val="141A24"/>
          </a:solidFill>
          <a:ln w="12700">
            <a:solidFill>
              <a:srgbClr val="2A33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1494922" y="336499"/>
            <a:ext cx="204825" cy="146304"/>
          </a:xfrm>
          <a:prstGeom prst="roundRect">
            <a:avLst>
              <a:gd name="adj" fmla="val 45000"/>
            </a:avLst>
          </a:prstGeom>
          <a:noFill/>
          <a:ln w="13970">
            <a:solidFill>
              <a:srgbClr val="7AA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38813" y="395020"/>
            <a:ext cx="27432" cy="27432"/>
          </a:xfrm>
          <a:prstGeom prst="ellipse">
            <a:avLst/>
          </a:prstGeom>
          <a:solidFill>
            <a:srgbClr val="50E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597334" y="395020"/>
            <a:ext cx="27432" cy="27432"/>
          </a:xfrm>
          <a:prstGeom prst="ellipse">
            <a:avLst/>
          </a:prstGeom>
          <a:solidFill>
            <a:srgbClr val="7AA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655855" y="395020"/>
            <a:ext cx="27432" cy="27432"/>
          </a:xfrm>
          <a:prstGeom prst="ellipse">
            <a:avLst/>
          </a:prstGeom>
          <a:solidFill>
            <a:srgbClr val="F4D3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384048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7AA7FF"/>
                </a:solidFill>
                <a:latin typeface="Segoe UI"/>
              </a:rPr>
              <a:t>CHƯƠNG 1 · ĐẶT VẤN ĐỀ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8368"/>
            <a:ext cx="10607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F1F5F9"/>
                </a:solidFill>
                <a:latin typeface="Segoe UI"/>
              </a:rPr>
              <a:t>Bối cảnh &amp; Thách thức dữ liệu đánh giá ITviec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298448"/>
            <a:ext cx="502920" cy="40640"/>
          </a:xfrm>
          <a:prstGeom prst="rect">
            <a:avLst/>
          </a:prstGeom>
          <a:solidFill>
            <a:srgbClr val="50E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688"/>
                </a:solidFill>
                <a:latin typeface="Segoe UI"/>
              </a:rPr>
              <a:t>Phân tích Cảm xúc Đánh giá ITviec  ·  Nhóm 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11535" y="6473952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6B7688"/>
                </a:solidFill>
                <a:latin typeface="Segoe UI"/>
              </a:rPr>
              <a:t>01 / 15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1508760"/>
            <a:ext cx="5577840" cy="4343400"/>
          </a:xfrm>
          <a:prstGeom prst="rect">
            <a:avLst/>
          </a:prstGeom>
          <a:solidFill>
            <a:srgbClr val="141A24"/>
          </a:solidFill>
          <a:ln w="12700">
            <a:solidFill>
              <a:srgbClr val="242C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1508760"/>
            <a:ext cx="5577840" cy="45720"/>
          </a:xfrm>
          <a:prstGeom prst="rect">
            <a:avLst/>
          </a:prstGeom>
          <a:solidFill>
            <a:srgbClr val="7AA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1655064"/>
            <a:ext cx="5212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F1F5F9"/>
                </a:solidFill>
                <a:latin typeface="Segoe UI"/>
              </a:rPr>
              <a:t>Bối cảnh &amp; Mục tiêu nghiên cứu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" y="2171700"/>
            <a:ext cx="82296" cy="82296"/>
          </a:xfrm>
          <a:prstGeom prst="ellipse">
            <a:avLst/>
          </a:prstGeom>
          <a:solidFill>
            <a:srgbClr val="7AA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50976" y="2103120"/>
            <a:ext cx="4901184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F1F5F9"/>
                </a:solidFill>
                <a:latin typeface="Segoe UI"/>
              </a:rPr>
              <a:t>Review ứng viên/nhân viên trên ITviec </a:t>
            </a:r>
            <a:r>
              <a:rPr sz="1350" b="0">
                <a:solidFill>
                  <a:srgbClr val="F1F5F9"/>
                </a:solidFill>
                <a:latin typeface="Segoe UI"/>
              </a:rPr>
              <a:t>là nguồn tín hiệu quan trọng phản ánh văn hoá, đãi ngộ và môi trường làm việc thực tế của doanh nghiệp IT.</a:t>
            </a:r>
          </a:p>
        </p:txBody>
      </p:sp>
      <p:sp>
        <p:nvSpPr>
          <p:cNvPr id="19" name="Oval 18"/>
          <p:cNvSpPr/>
          <p:nvPr/>
        </p:nvSpPr>
        <p:spPr>
          <a:xfrm>
            <a:off x="731520" y="3177540"/>
            <a:ext cx="82296" cy="82296"/>
          </a:xfrm>
          <a:prstGeom prst="ellipse">
            <a:avLst/>
          </a:prstGeom>
          <a:solidFill>
            <a:srgbClr val="7AA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0976" y="3108960"/>
            <a:ext cx="4901184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F1F5F9"/>
                </a:solidFill>
                <a:latin typeface="Segoe UI"/>
              </a:rPr>
              <a:t>Mục tiêu: </a:t>
            </a:r>
            <a:r>
              <a:rPr sz="1350" b="0">
                <a:solidFill>
                  <a:srgbClr val="F1F5F9"/>
                </a:solidFill>
                <a:latin typeface="Segoe UI"/>
              </a:rPr>
              <a:t>tự động phân loại cảm xúc 3 lớp (Tích cực / Trung tính / Tiêu cực) từ văn bản đánh giá tiếng Việt.</a:t>
            </a:r>
          </a:p>
        </p:txBody>
      </p:sp>
      <p:sp>
        <p:nvSpPr>
          <p:cNvPr id="21" name="Oval 20"/>
          <p:cNvSpPr/>
          <p:nvPr/>
        </p:nvSpPr>
        <p:spPr>
          <a:xfrm>
            <a:off x="731520" y="3909060"/>
            <a:ext cx="82296" cy="82296"/>
          </a:xfrm>
          <a:prstGeom prst="ellipse">
            <a:avLst/>
          </a:prstGeom>
          <a:solidFill>
            <a:srgbClr val="7AA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50976" y="3840480"/>
            <a:ext cx="4901184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F1F5F9"/>
                </a:solidFill>
                <a:latin typeface="Segoe UI"/>
              </a:rPr>
              <a:t>So sánh có hệ thống </a:t>
            </a:r>
            <a:r>
              <a:rPr sz="1350" b="0">
                <a:solidFill>
                  <a:srgbClr val="F1F5F9"/>
                </a:solidFill>
                <a:latin typeface="Segoe UI"/>
              </a:rPr>
              <a:t>giữa ML cổ điển, Stacking Ensemble và Deep Learning Transformer (ViSoBERT).</a:t>
            </a:r>
          </a:p>
        </p:txBody>
      </p:sp>
      <p:sp>
        <p:nvSpPr>
          <p:cNvPr id="23" name="Oval 22"/>
          <p:cNvSpPr/>
          <p:nvPr/>
        </p:nvSpPr>
        <p:spPr>
          <a:xfrm>
            <a:off x="731520" y="4640580"/>
            <a:ext cx="82296" cy="82296"/>
          </a:xfrm>
          <a:prstGeom prst="ellipse">
            <a:avLst/>
          </a:prstGeom>
          <a:solidFill>
            <a:srgbClr val="7AA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0976" y="4572000"/>
            <a:ext cx="4901184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F1F5F9"/>
                </a:solidFill>
                <a:latin typeface="Segoe UI"/>
              </a:rPr>
              <a:t>Khai thác insight </a:t>
            </a:r>
            <a:r>
              <a:rPr sz="1350" b="0">
                <a:solidFill>
                  <a:srgbClr val="F1F5F9"/>
                </a:solidFill>
                <a:latin typeface="Segoe UI"/>
              </a:rPr>
              <a:t>theo từng doanh nghiệp để hỗ trợ phòng Nhân sự &amp; Ban quản lý ra quyết định.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63640" y="1508760"/>
            <a:ext cx="5394960" cy="4343400"/>
          </a:xfrm>
          <a:prstGeom prst="rect">
            <a:avLst/>
          </a:prstGeom>
          <a:solidFill>
            <a:srgbClr val="141A24"/>
          </a:solidFill>
          <a:ln w="12700">
            <a:solidFill>
              <a:srgbClr val="242C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63640" y="1508760"/>
            <a:ext cx="5394960" cy="45720"/>
          </a:xfrm>
          <a:prstGeom prst="rect">
            <a:avLst/>
          </a:prstGeom>
          <a:solidFill>
            <a:srgbClr val="FF6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46520" y="1655064"/>
            <a:ext cx="5029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F1F5F9"/>
                </a:solidFill>
                <a:latin typeface="Segoe UI"/>
              </a:rPr>
              <a:t>4 Thách thức kỹ thuật cốt lõi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64808" y="2075688"/>
            <a:ext cx="73152" cy="713232"/>
          </a:xfrm>
          <a:prstGeom prst="rect">
            <a:avLst/>
          </a:prstGeom>
          <a:solidFill>
            <a:srgbClr val="FF6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47688" y="2075688"/>
            <a:ext cx="47548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1F5F9"/>
                </a:solidFill>
                <a:latin typeface="Segoe UI"/>
              </a:rPr>
              <a:t>Mất cân bằng nghiêm trọng 11:1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47688" y="2386584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A0ADBF"/>
                </a:solidFill>
                <a:latin typeface="Segoe UI"/>
              </a:rPr>
              <a:t>73.8% Tích cực vs 6.8% Tiêu cực — mô hình dễ "lười" đoán về lớp đa số.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64808" y="2916936"/>
            <a:ext cx="73152" cy="713232"/>
          </a:xfrm>
          <a:prstGeom prst="rect">
            <a:avLst/>
          </a:prstGeom>
          <a:solidFill>
            <a:srgbClr val="FF9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47688" y="2916936"/>
            <a:ext cx="47548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1F5F9"/>
                </a:solidFill>
                <a:latin typeface="Segoe UI"/>
              </a:rPr>
              <a:t>Teencode &amp; thuật ngữ IT Anh-Việt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47688" y="3227832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A0ADBF"/>
                </a:solidFill>
                <a:latin typeface="Segoe UI"/>
              </a:rPr>
              <a:t>"ko", "cty", "OT", "leader", "benefit" xen lẫn trong cùng một câu.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64808" y="3758184"/>
            <a:ext cx="73152" cy="713232"/>
          </a:xfrm>
          <a:prstGeom prst="rect">
            <a:avLst/>
          </a:prstGeom>
          <a:solidFill>
            <a:srgbClr val="F4D3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47688" y="3758184"/>
            <a:ext cx="47548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1F5F9"/>
                </a:solidFill>
                <a:latin typeface="Segoe UI"/>
              </a:rPr>
              <a:t>Khen/chê đan xen trong 1 review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47688" y="406908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A0ADBF"/>
                </a:solidFill>
                <a:latin typeface="Segoe UI"/>
              </a:rPr>
              <a:t>Một đoạn văn vừa khen môi trường vừa chê lương — dễ gây nhiễu nhãn.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64808" y="4599432"/>
            <a:ext cx="73152" cy="713232"/>
          </a:xfrm>
          <a:prstGeom prst="rect">
            <a:avLst/>
          </a:prstGeom>
          <a:solidFill>
            <a:srgbClr val="7AA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647688" y="4599432"/>
            <a:ext cx="47548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1F5F9"/>
                </a:solidFill>
                <a:latin typeface="Segoe UI"/>
              </a:rPr>
              <a:t>Câu phủ định phức tạp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47688" y="4910328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A0ADBF"/>
                </a:solidFill>
                <a:latin typeface="Segoe UI"/>
              </a:rPr>
              <a:t>"không được thân thiện", "ít cơ hội học hỏi" — phủ định đảo cực tính từ vựng.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B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7AA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14455" y="256032"/>
            <a:ext cx="365760" cy="365760"/>
          </a:xfrm>
          <a:prstGeom prst="rect">
            <a:avLst/>
          </a:prstGeom>
          <a:solidFill>
            <a:srgbClr val="141A24"/>
          </a:solidFill>
          <a:ln w="12700">
            <a:solidFill>
              <a:srgbClr val="2A33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1494922" y="336499"/>
            <a:ext cx="204825" cy="146304"/>
          </a:xfrm>
          <a:prstGeom prst="roundRect">
            <a:avLst>
              <a:gd name="adj" fmla="val 45000"/>
            </a:avLst>
          </a:prstGeom>
          <a:noFill/>
          <a:ln w="13970">
            <a:solidFill>
              <a:srgbClr val="7AA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38813" y="395020"/>
            <a:ext cx="27432" cy="27432"/>
          </a:xfrm>
          <a:prstGeom prst="ellipse">
            <a:avLst/>
          </a:prstGeom>
          <a:solidFill>
            <a:srgbClr val="50E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597334" y="395020"/>
            <a:ext cx="27432" cy="27432"/>
          </a:xfrm>
          <a:prstGeom prst="ellipse">
            <a:avLst/>
          </a:prstGeom>
          <a:solidFill>
            <a:srgbClr val="7AA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655855" y="395020"/>
            <a:ext cx="27432" cy="27432"/>
          </a:xfrm>
          <a:prstGeom prst="ellipse">
            <a:avLst/>
          </a:prstGeom>
          <a:solidFill>
            <a:srgbClr val="F4D3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384048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7AA7FF"/>
                </a:solidFill>
                <a:latin typeface="Segoe UI"/>
              </a:rPr>
              <a:t>KIẾN TRÚC HỆ THỐNG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8368"/>
            <a:ext cx="10607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F1F5F9"/>
                </a:solidFill>
                <a:latin typeface="Segoe UI"/>
              </a:rPr>
              <a:t>Sơ đồ pipeline tổng thể End-to-End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298448"/>
            <a:ext cx="502920" cy="40640"/>
          </a:xfrm>
          <a:prstGeom prst="rect">
            <a:avLst/>
          </a:prstGeom>
          <a:solidFill>
            <a:srgbClr val="50E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688"/>
                </a:solidFill>
                <a:latin typeface="Segoe UI"/>
              </a:rPr>
              <a:t>Phân tích Cảm xúc Đánh giá ITviec  ·  Nhóm 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11535" y="6473952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6B7688"/>
                </a:solidFill>
                <a:latin typeface="Segoe UI"/>
              </a:rPr>
              <a:t>02 / 15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6052" y="2697480"/>
            <a:ext cx="1572768" cy="1691640"/>
          </a:xfrm>
          <a:prstGeom prst="rect">
            <a:avLst/>
          </a:prstGeom>
          <a:solidFill>
            <a:srgbClr val="141A24"/>
          </a:solidFill>
          <a:ln w="12700">
            <a:solidFill>
              <a:srgbClr val="242C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16052" y="2697480"/>
            <a:ext cx="54864" cy="1691640"/>
          </a:xfrm>
          <a:prstGeom prst="rect">
            <a:avLst/>
          </a:prstGeom>
          <a:solidFill>
            <a:srgbClr val="7AA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2356" y="2788920"/>
            <a:ext cx="1316736" cy="8458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1F5F9"/>
                </a:solidFill>
                <a:latin typeface="Segoe UI"/>
              </a:rPr>
              <a:t>1. Thu thập dữ liệu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2356" y="3577133"/>
            <a:ext cx="1316736" cy="77815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A0ADBF"/>
                </a:solidFill>
                <a:latin typeface="Segoe UI"/>
              </a:rPr>
              <a:t>8.417 review ITviec đa công ty, kèm rating &amp; khía cạnh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1988820" y="3415284"/>
            <a:ext cx="384048" cy="256032"/>
          </a:xfrm>
          <a:prstGeom prst="rightArrow">
            <a:avLst>
              <a:gd name="adj1" fmla="val 60000"/>
              <a:gd name="adj2" fmla="val 55000"/>
            </a:avLst>
          </a:prstGeom>
          <a:solidFill>
            <a:srgbClr val="6B76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372868" y="2697480"/>
            <a:ext cx="1572768" cy="1691640"/>
          </a:xfrm>
          <a:prstGeom prst="rect">
            <a:avLst/>
          </a:prstGeom>
          <a:solidFill>
            <a:srgbClr val="141A24"/>
          </a:solidFill>
          <a:ln w="12700">
            <a:solidFill>
              <a:srgbClr val="242C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372868" y="2697480"/>
            <a:ext cx="54864" cy="1691640"/>
          </a:xfrm>
          <a:prstGeom prst="rect">
            <a:avLst/>
          </a:prstGeom>
          <a:solidFill>
            <a:srgbClr val="50E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19172" y="2788920"/>
            <a:ext cx="1316736" cy="8458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1F5F9"/>
                </a:solidFill>
                <a:latin typeface="Segoe UI"/>
              </a:rPr>
              <a:t>2. Tiền xử lý 2 tầng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19172" y="3577133"/>
            <a:ext cx="1316736" cy="77815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A0ADBF"/>
                </a:solidFill>
                <a:latin typeface="Segoe UI"/>
              </a:rPr>
              <a:t>Chuẩn hoá, Negation Scope, tách từ tiếng Việt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3945636" y="3415284"/>
            <a:ext cx="384048" cy="256032"/>
          </a:xfrm>
          <a:prstGeom prst="rightArrow">
            <a:avLst>
              <a:gd name="adj1" fmla="val 60000"/>
              <a:gd name="adj2" fmla="val 55000"/>
            </a:avLst>
          </a:prstGeom>
          <a:solidFill>
            <a:srgbClr val="6B76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329684" y="2697480"/>
            <a:ext cx="1572768" cy="1691640"/>
          </a:xfrm>
          <a:prstGeom prst="rect">
            <a:avLst/>
          </a:prstGeom>
          <a:solidFill>
            <a:srgbClr val="141A24"/>
          </a:solidFill>
          <a:ln w="12700">
            <a:solidFill>
              <a:srgbClr val="242C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329684" y="2697480"/>
            <a:ext cx="54864" cy="1691640"/>
          </a:xfrm>
          <a:prstGeom prst="rect">
            <a:avLst/>
          </a:prstGeom>
          <a:solidFill>
            <a:srgbClr val="F4D3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75988" y="2788920"/>
            <a:ext cx="1316736" cy="8458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1F5F9"/>
                </a:solidFill>
                <a:latin typeface="Segoe UI"/>
              </a:rPr>
              <a:t>3. Trích xuất đặc trưng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75988" y="3577133"/>
            <a:ext cx="1316736" cy="77815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A0ADBF"/>
                </a:solidFill>
                <a:latin typeface="Segoe UI"/>
              </a:rPr>
              <a:t>TF-IDF 5.000 chiều + Lexicon cảm xúc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5902452" y="3415284"/>
            <a:ext cx="384048" cy="256032"/>
          </a:xfrm>
          <a:prstGeom prst="rightArrow">
            <a:avLst>
              <a:gd name="adj1" fmla="val 60000"/>
              <a:gd name="adj2" fmla="val 55000"/>
            </a:avLst>
          </a:prstGeom>
          <a:solidFill>
            <a:srgbClr val="6B76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86500" y="2697480"/>
            <a:ext cx="1572768" cy="1691640"/>
          </a:xfrm>
          <a:prstGeom prst="rect">
            <a:avLst/>
          </a:prstGeom>
          <a:solidFill>
            <a:srgbClr val="141A24"/>
          </a:solidFill>
          <a:ln w="12700">
            <a:solidFill>
              <a:srgbClr val="242C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86500" y="2697480"/>
            <a:ext cx="54864" cy="1691640"/>
          </a:xfrm>
          <a:prstGeom prst="rect">
            <a:avLst/>
          </a:prstGeom>
          <a:solidFill>
            <a:srgbClr val="FF9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32804" y="2788920"/>
            <a:ext cx="1316736" cy="8458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1F5F9"/>
                </a:solidFill>
                <a:latin typeface="Segoe UI"/>
              </a:rPr>
              <a:t>4. Mô hình hoá ML/DL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32804" y="3577133"/>
            <a:ext cx="1316736" cy="77815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A0ADBF"/>
                </a:solidFill>
                <a:latin typeface="Segoe UI"/>
              </a:rPr>
              <a:t>4 baseline · Stacking Ensemble · ViSoBERT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7859268" y="3415284"/>
            <a:ext cx="384048" cy="256032"/>
          </a:xfrm>
          <a:prstGeom prst="rightArrow">
            <a:avLst>
              <a:gd name="adj1" fmla="val 60000"/>
              <a:gd name="adj2" fmla="val 55000"/>
            </a:avLst>
          </a:prstGeom>
          <a:solidFill>
            <a:srgbClr val="6B76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243316" y="2697480"/>
            <a:ext cx="1572768" cy="1691640"/>
          </a:xfrm>
          <a:prstGeom prst="rect">
            <a:avLst/>
          </a:prstGeom>
          <a:solidFill>
            <a:srgbClr val="141A24"/>
          </a:solidFill>
          <a:ln w="12700">
            <a:solidFill>
              <a:srgbClr val="242C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243316" y="2697480"/>
            <a:ext cx="54864" cy="1691640"/>
          </a:xfrm>
          <a:prstGeom prst="rect">
            <a:avLst/>
          </a:prstGeom>
          <a:solidFill>
            <a:srgbClr val="FF6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389620" y="2788920"/>
            <a:ext cx="1316736" cy="8458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1F5F9"/>
                </a:solidFill>
                <a:latin typeface="Segoe UI"/>
              </a:rPr>
              <a:t>5. Hybrid Decision Gate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89620" y="3577133"/>
            <a:ext cx="1316736" cy="77815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A0ADBF"/>
                </a:solidFill>
                <a:latin typeface="Segoe UI"/>
              </a:rPr>
              <a:t>Kết hợp xác suất ML + tri thức từ điển miền</a:t>
            </a:r>
          </a:p>
        </p:txBody>
      </p:sp>
      <p:sp>
        <p:nvSpPr>
          <p:cNvPr id="38" name="Right Arrow 37"/>
          <p:cNvSpPr/>
          <p:nvPr/>
        </p:nvSpPr>
        <p:spPr>
          <a:xfrm>
            <a:off x="9816084" y="3415284"/>
            <a:ext cx="384048" cy="256032"/>
          </a:xfrm>
          <a:prstGeom prst="rightArrow">
            <a:avLst>
              <a:gd name="adj1" fmla="val 60000"/>
              <a:gd name="adj2" fmla="val 55000"/>
            </a:avLst>
          </a:prstGeom>
          <a:solidFill>
            <a:srgbClr val="6B76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0200132" y="2697480"/>
            <a:ext cx="1572768" cy="1691640"/>
          </a:xfrm>
          <a:prstGeom prst="rect">
            <a:avLst/>
          </a:prstGeom>
          <a:solidFill>
            <a:srgbClr val="141A24"/>
          </a:solidFill>
          <a:ln w="12700">
            <a:solidFill>
              <a:srgbClr val="242C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0200132" y="2697480"/>
            <a:ext cx="54864" cy="1691640"/>
          </a:xfrm>
          <a:prstGeom prst="rect">
            <a:avLst/>
          </a:prstGeom>
          <a:solidFill>
            <a:srgbClr val="7AA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346436" y="2788920"/>
            <a:ext cx="1316736" cy="8458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1F5F9"/>
                </a:solidFill>
                <a:latin typeface="Segoe UI"/>
              </a:rPr>
              <a:t>6. Web App &amp; XAI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346436" y="3577133"/>
            <a:ext cx="1316736" cy="77815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A0ADBF"/>
                </a:solidFill>
                <a:latin typeface="Segoe UI"/>
              </a:rPr>
              <a:t>Streamlit demo, dự đoán realtime, giải thích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2920" y="1554480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A0ADBF"/>
                </a:solidFill>
                <a:latin typeface="Segoe UI"/>
              </a:rPr>
              <a:t>Toàn bộ pipeline được đóng gói dạng module tái sử dụng, kiểm chứng bằng 55 bài kiểm thử (test passed) — bảo đảm nhất quán giữa notebook nghiên cứu và ứng dụng Web.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02920" y="4800600"/>
            <a:ext cx="3611880" cy="960120"/>
          </a:xfrm>
          <a:prstGeom prst="rect">
            <a:avLst/>
          </a:prstGeom>
          <a:solidFill>
            <a:srgbClr val="141A24"/>
          </a:solidFill>
          <a:ln w="12700">
            <a:solidFill>
              <a:srgbClr val="242C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67512" y="4910328"/>
            <a:ext cx="328269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50E3A4"/>
                </a:solidFill>
                <a:latin typeface="Segoe UI"/>
              </a:rPr>
              <a:t>Tách biệt Train/CV/Final-Test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67512" y="5221224"/>
            <a:ext cx="328269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A0ADBF"/>
                </a:solidFill>
                <a:latin typeface="Segoe UI"/>
              </a:rPr>
              <a:t>Final test chỉ mở khoá đúng 1 lần, chống rò rỉ dữ liệu.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288536" y="4800600"/>
            <a:ext cx="3611880" cy="960120"/>
          </a:xfrm>
          <a:prstGeom prst="rect">
            <a:avLst/>
          </a:prstGeom>
          <a:solidFill>
            <a:srgbClr val="141A24"/>
          </a:solidFill>
          <a:ln w="12700">
            <a:solidFill>
              <a:srgbClr val="242C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453128" y="4910328"/>
            <a:ext cx="328269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50E3A4"/>
                </a:solidFill>
                <a:latin typeface="Segoe UI"/>
              </a:rPr>
              <a:t>2 pipeline tiền xử lý song song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453128" y="5221224"/>
            <a:ext cx="328269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A0ADBF"/>
                </a:solidFill>
                <a:latin typeface="Segoe UI"/>
              </a:rPr>
              <a:t>clean_advance_text (ML) vs clean_text_for_transformer (DL).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074152" y="4800600"/>
            <a:ext cx="3611880" cy="960120"/>
          </a:xfrm>
          <a:prstGeom prst="rect">
            <a:avLst/>
          </a:prstGeom>
          <a:solidFill>
            <a:srgbClr val="141A24"/>
          </a:solidFill>
          <a:ln w="12700">
            <a:solidFill>
              <a:srgbClr val="242C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238744" y="4910328"/>
            <a:ext cx="328269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50E3A4"/>
                </a:solidFill>
                <a:latin typeface="Segoe UI"/>
              </a:rPr>
              <a:t>Song song 2 mô hình trên UI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238744" y="5221224"/>
            <a:ext cx="328269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A0ADBF"/>
                </a:solidFill>
                <a:latin typeface="Segoe UI"/>
              </a:rPr>
              <a:t>Segmented control chọn Text-only (5.000) hoặc Text+Lexicon (5.005) chiều.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B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7AA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14455" y="256032"/>
            <a:ext cx="365760" cy="365760"/>
          </a:xfrm>
          <a:prstGeom prst="rect">
            <a:avLst/>
          </a:prstGeom>
          <a:solidFill>
            <a:srgbClr val="141A24"/>
          </a:solidFill>
          <a:ln w="12700">
            <a:solidFill>
              <a:srgbClr val="2A33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1494922" y="336499"/>
            <a:ext cx="204825" cy="146304"/>
          </a:xfrm>
          <a:prstGeom prst="roundRect">
            <a:avLst>
              <a:gd name="adj" fmla="val 45000"/>
            </a:avLst>
          </a:prstGeom>
          <a:noFill/>
          <a:ln w="13970">
            <a:solidFill>
              <a:srgbClr val="7AA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38813" y="395020"/>
            <a:ext cx="27432" cy="27432"/>
          </a:xfrm>
          <a:prstGeom prst="ellipse">
            <a:avLst/>
          </a:prstGeom>
          <a:solidFill>
            <a:srgbClr val="50E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597334" y="395020"/>
            <a:ext cx="27432" cy="27432"/>
          </a:xfrm>
          <a:prstGeom prst="ellipse">
            <a:avLst/>
          </a:prstGeom>
          <a:solidFill>
            <a:srgbClr val="7AA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655855" y="395020"/>
            <a:ext cx="27432" cy="27432"/>
          </a:xfrm>
          <a:prstGeom prst="ellipse">
            <a:avLst/>
          </a:prstGeom>
          <a:solidFill>
            <a:srgbClr val="F4D3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384048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7AA7FF"/>
                </a:solidFill>
                <a:latin typeface="Segoe UI"/>
              </a:rPr>
              <a:t>CHƯƠNG 2 · TIỀN XỬ LÝ DỮ LIỆU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8368"/>
            <a:ext cx="10607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F1F5F9"/>
                </a:solidFill>
                <a:latin typeface="Segoe UI"/>
              </a:rPr>
              <a:t>Pipeline tiền xử lý 2 tầng &amp; Negation Scope Detection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298448"/>
            <a:ext cx="502920" cy="40640"/>
          </a:xfrm>
          <a:prstGeom prst="rect">
            <a:avLst/>
          </a:prstGeom>
          <a:solidFill>
            <a:srgbClr val="50E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688"/>
                </a:solidFill>
                <a:latin typeface="Segoe UI"/>
              </a:rPr>
              <a:t>Phân tích Cảm xúc Đánh giá ITviec  ·  Nhóm 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11535" y="6473952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6B7688"/>
                </a:solidFill>
                <a:latin typeface="Segoe UI"/>
              </a:rPr>
              <a:t>03 / 15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1508760"/>
            <a:ext cx="5486400" cy="4343400"/>
          </a:xfrm>
          <a:prstGeom prst="rect">
            <a:avLst/>
          </a:prstGeom>
          <a:solidFill>
            <a:srgbClr val="141A24"/>
          </a:solidFill>
          <a:ln w="12700">
            <a:solidFill>
              <a:srgbClr val="242C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1508760"/>
            <a:ext cx="5486400" cy="45720"/>
          </a:xfrm>
          <a:prstGeom prst="rect">
            <a:avLst/>
          </a:prstGeom>
          <a:solidFill>
            <a:srgbClr val="7AA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1655064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F1F5F9"/>
                </a:solidFill>
                <a:latin typeface="Segoe UI"/>
              </a:rPr>
              <a:t>Hai pipeline tiền xử lý độc lập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" y="2075688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50E3A4"/>
                </a:solidFill>
                <a:latin typeface="Segoe UI"/>
              </a:rPr>
              <a:t>clean_advance_text()  →  dùng cho ML cổ điển</a:t>
            </a:r>
          </a:p>
        </p:txBody>
      </p:sp>
      <p:sp>
        <p:nvSpPr>
          <p:cNvPr id="18" name="Oval 17"/>
          <p:cNvSpPr/>
          <p:nvPr/>
        </p:nvSpPr>
        <p:spPr>
          <a:xfrm>
            <a:off x="722376" y="2459736"/>
            <a:ext cx="64008" cy="64008"/>
          </a:xfrm>
          <a:prstGeom prst="ellipse">
            <a:avLst/>
          </a:prstGeom>
          <a:solidFill>
            <a:srgbClr val="50E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6968" y="2404872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A0ADBF"/>
                </a:solidFill>
                <a:latin typeface="Segoe UI"/>
              </a:rPr>
              <a:t>Chuẩn hoá Unicode NFC</a:t>
            </a:r>
          </a:p>
        </p:txBody>
      </p:sp>
      <p:sp>
        <p:nvSpPr>
          <p:cNvPr id="20" name="Oval 19"/>
          <p:cNvSpPr/>
          <p:nvPr/>
        </p:nvSpPr>
        <p:spPr>
          <a:xfrm>
            <a:off x="722376" y="2770632"/>
            <a:ext cx="64008" cy="64008"/>
          </a:xfrm>
          <a:prstGeom prst="ellipse">
            <a:avLst/>
          </a:prstGeom>
          <a:solidFill>
            <a:srgbClr val="50E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6968" y="2715768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A0ADBF"/>
                </a:solidFill>
                <a:latin typeface="Segoe UI"/>
              </a:rPr>
              <a:t>Emoji → từ ngữ sắc thái</a:t>
            </a:r>
          </a:p>
        </p:txBody>
      </p:sp>
      <p:sp>
        <p:nvSpPr>
          <p:cNvPr id="22" name="Oval 21"/>
          <p:cNvSpPr/>
          <p:nvPr/>
        </p:nvSpPr>
        <p:spPr>
          <a:xfrm>
            <a:off x="722376" y="3081528"/>
            <a:ext cx="64008" cy="64008"/>
          </a:xfrm>
          <a:prstGeom prst="ellipse">
            <a:avLst/>
          </a:prstGeom>
          <a:solidFill>
            <a:srgbClr val="50E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6968" y="3026664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A0ADBF"/>
                </a:solidFill>
                <a:latin typeface="Segoe UI"/>
              </a:rPr>
              <a:t>Chuẩn hoá teencode &amp; thuật ngữ IT</a:t>
            </a:r>
          </a:p>
        </p:txBody>
      </p:sp>
      <p:sp>
        <p:nvSpPr>
          <p:cNvPr id="24" name="Oval 23"/>
          <p:cNvSpPr/>
          <p:nvPr/>
        </p:nvSpPr>
        <p:spPr>
          <a:xfrm>
            <a:off x="722376" y="3392424"/>
            <a:ext cx="64008" cy="64008"/>
          </a:xfrm>
          <a:prstGeom prst="ellipse">
            <a:avLst/>
          </a:prstGeom>
          <a:solidFill>
            <a:srgbClr val="50E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6968" y="3337560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A0ADBF"/>
                </a:solidFill>
                <a:latin typeface="Segoe UI"/>
              </a:rPr>
              <a:t>Tách từ (underthesea) + Greedy Matching 99.75%</a:t>
            </a:r>
          </a:p>
        </p:txBody>
      </p:sp>
      <p:sp>
        <p:nvSpPr>
          <p:cNvPr id="26" name="Oval 25"/>
          <p:cNvSpPr/>
          <p:nvPr/>
        </p:nvSpPr>
        <p:spPr>
          <a:xfrm>
            <a:off x="722376" y="3703320"/>
            <a:ext cx="64008" cy="64008"/>
          </a:xfrm>
          <a:prstGeom prst="ellipse">
            <a:avLst/>
          </a:prstGeom>
          <a:solidFill>
            <a:srgbClr val="50E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86968" y="3648456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A0ADBF"/>
                </a:solidFill>
                <a:latin typeface="Segoe UI"/>
              </a:rPr>
              <a:t>Loại stopword (giữ từ phủ định: chưa, thiếu, ít)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04088" y="4123944"/>
            <a:ext cx="5074920" cy="12700"/>
          </a:xfrm>
          <a:prstGeom prst="rect">
            <a:avLst/>
          </a:prstGeom>
          <a:solidFill>
            <a:srgbClr val="242C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4088" y="4288536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7AA7FF"/>
                </a:solidFill>
                <a:latin typeface="Segoe UI"/>
              </a:rPr>
              <a:t>clean_text_for_transformer()  →  dùng cho ViSoBERT</a:t>
            </a:r>
          </a:p>
        </p:txBody>
      </p:sp>
      <p:sp>
        <p:nvSpPr>
          <p:cNvPr id="30" name="Oval 29"/>
          <p:cNvSpPr/>
          <p:nvPr/>
        </p:nvSpPr>
        <p:spPr>
          <a:xfrm>
            <a:off x="722376" y="4672584"/>
            <a:ext cx="64008" cy="64008"/>
          </a:xfrm>
          <a:prstGeom prst="ellipse">
            <a:avLst/>
          </a:prstGeom>
          <a:solidFill>
            <a:srgbClr val="7AA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86968" y="4617720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A0ADBF"/>
                </a:solidFill>
                <a:latin typeface="Segoe UI"/>
              </a:rPr>
              <a:t>Chỉ chuẩn hoá Unicode &amp; khoảng trắng</a:t>
            </a:r>
          </a:p>
        </p:txBody>
      </p:sp>
      <p:sp>
        <p:nvSpPr>
          <p:cNvPr id="32" name="Oval 31"/>
          <p:cNvSpPr/>
          <p:nvPr/>
        </p:nvSpPr>
        <p:spPr>
          <a:xfrm>
            <a:off x="722376" y="4983480"/>
            <a:ext cx="64008" cy="64008"/>
          </a:xfrm>
          <a:prstGeom prst="ellipse">
            <a:avLst/>
          </a:prstGeom>
          <a:solidFill>
            <a:srgbClr val="7AA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86968" y="4928616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A0ADBF"/>
                </a:solidFill>
                <a:latin typeface="Segoe UI"/>
              </a:rPr>
              <a:t>Giữ nguyên cấu trúc câu, dấu câu, ngữ cảnh</a:t>
            </a:r>
          </a:p>
        </p:txBody>
      </p:sp>
      <p:sp>
        <p:nvSpPr>
          <p:cNvPr id="34" name="Oval 33"/>
          <p:cNvSpPr/>
          <p:nvPr/>
        </p:nvSpPr>
        <p:spPr>
          <a:xfrm>
            <a:off x="722376" y="5294376"/>
            <a:ext cx="64008" cy="64008"/>
          </a:xfrm>
          <a:prstGeom prst="ellipse">
            <a:avLst/>
          </a:prstGeom>
          <a:solidFill>
            <a:srgbClr val="7AA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86968" y="5239512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A0ADBF"/>
                </a:solidFill>
                <a:latin typeface="Segoe UI"/>
              </a:rPr>
              <a:t>Không tách từ / không lọc stopword — để tokenizer BPE tự xử lý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72200" y="1508760"/>
            <a:ext cx="5486400" cy="4343400"/>
          </a:xfrm>
          <a:prstGeom prst="rect">
            <a:avLst/>
          </a:prstGeom>
          <a:solidFill>
            <a:srgbClr val="141A24"/>
          </a:solidFill>
          <a:ln w="12700">
            <a:solidFill>
              <a:srgbClr val="242C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172200" y="1508760"/>
            <a:ext cx="5486400" cy="45720"/>
          </a:xfrm>
          <a:prstGeom prst="rect">
            <a:avLst/>
          </a:prstGeom>
          <a:solidFill>
            <a:srgbClr val="FF6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55080" y="1655064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F1F5F9"/>
                </a:solidFill>
                <a:latin typeface="Segoe UI"/>
              </a:rPr>
              <a:t>Negation Scope Detection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73368" y="2075688"/>
            <a:ext cx="50749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A0ADBF"/>
                </a:solidFill>
                <a:latin typeface="Segoe UI"/>
              </a:rPr>
              <a:t>Thuật toán quét cửa sổ phủ định (không, chưa, chẳng...) và đảo cực tính các từ cảm xúc nằm trong phạm vi ảnh hưởng.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73368" y="2761488"/>
            <a:ext cx="5074920" cy="1417320"/>
          </a:xfrm>
          <a:prstGeom prst="rect">
            <a:avLst/>
          </a:prstGeom>
          <a:solidFill>
            <a:srgbClr val="11161F"/>
          </a:solidFill>
          <a:ln w="12700">
            <a:solidFill>
              <a:srgbClr val="242C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56248" y="2889504"/>
            <a:ext cx="4709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6B7688"/>
                </a:solidFill>
                <a:latin typeface="Segoe UI"/>
              </a:rPr>
              <a:t>VÍ DỤ THỰC TẾ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56248" y="3163824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A0ADBF"/>
                </a:solidFill>
                <a:latin typeface="Segoe UI"/>
              </a:rPr>
              <a:t>“... môi trường làm việc </a:t>
            </a:r>
            <a:r>
              <a:rPr sz="1300" b="1">
                <a:solidFill>
                  <a:srgbClr val="FF6677"/>
                </a:solidFill>
                <a:latin typeface="Segoe UI"/>
              </a:rPr>
              <a:t>không được </a:t>
            </a:r>
            <a:r>
              <a:rPr sz="1300" b="0">
                <a:solidFill>
                  <a:srgbClr val="A0ADBF"/>
                </a:solidFill>
                <a:latin typeface="Segoe UI"/>
              </a:rPr>
              <a:t>thân thiện ...”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56248" y="3602736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A0ADBF"/>
                </a:solidFill>
                <a:latin typeface="Segoe UI"/>
              </a:rPr>
              <a:t>“thân thiện” (tích cực)  </a:t>
            </a:r>
            <a:r>
              <a:rPr sz="1200" b="0">
                <a:solidFill>
                  <a:srgbClr val="6B7688"/>
                </a:solidFill>
                <a:latin typeface="Segoe UI"/>
              </a:rPr>
              <a:t>→ trong cửa sổ phủ định →  </a:t>
            </a:r>
            <a:r>
              <a:rPr sz="1200" b="1">
                <a:solidFill>
                  <a:srgbClr val="FF6677"/>
                </a:solidFill>
                <a:latin typeface="Segoe UI"/>
              </a:rPr>
              <a:t>cực tính đảo ngược (tiêu cực)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373368" y="4361688"/>
            <a:ext cx="73152" cy="457200"/>
          </a:xfrm>
          <a:prstGeom prst="rect">
            <a:avLst/>
          </a:prstGeom>
          <a:solidFill>
            <a:srgbClr val="FF9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556248" y="4361688"/>
            <a:ext cx="47548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F1F5F9"/>
                </a:solidFill>
                <a:latin typeface="Segoe UI"/>
              </a:rPr>
              <a:t>Không có Negation Scope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56248" y="4608576"/>
            <a:ext cx="47548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0ADBF"/>
                </a:solidFill>
                <a:latin typeface="Segoe UI"/>
              </a:rPr>
              <a:t>Nhận diện sai → gán nhãn Tích cực/Trung tính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373368" y="4928616"/>
            <a:ext cx="73152" cy="457200"/>
          </a:xfrm>
          <a:prstGeom prst="rect">
            <a:avLst/>
          </a:prstGeom>
          <a:solidFill>
            <a:srgbClr val="50E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556248" y="4928616"/>
            <a:ext cx="47548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F1F5F9"/>
                </a:solidFill>
                <a:latin typeface="Segoe UI"/>
              </a:rPr>
              <a:t>Có Negation Scope + Hybrid Gate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556248" y="5175504"/>
            <a:ext cx="47548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0ADBF"/>
                </a:solidFill>
                <a:latin typeface="Segoe UI"/>
              </a:rPr>
              <a:t>Nhận diện đúng → Tiêu cực (71.1%)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B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7AA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14455" y="256032"/>
            <a:ext cx="365760" cy="365760"/>
          </a:xfrm>
          <a:prstGeom prst="rect">
            <a:avLst/>
          </a:prstGeom>
          <a:solidFill>
            <a:srgbClr val="141A24"/>
          </a:solidFill>
          <a:ln w="12700">
            <a:solidFill>
              <a:srgbClr val="2A33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1494922" y="336499"/>
            <a:ext cx="204825" cy="146304"/>
          </a:xfrm>
          <a:prstGeom prst="roundRect">
            <a:avLst>
              <a:gd name="adj" fmla="val 45000"/>
            </a:avLst>
          </a:prstGeom>
          <a:noFill/>
          <a:ln w="13970">
            <a:solidFill>
              <a:srgbClr val="7AA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38813" y="395020"/>
            <a:ext cx="27432" cy="27432"/>
          </a:xfrm>
          <a:prstGeom prst="ellipse">
            <a:avLst/>
          </a:prstGeom>
          <a:solidFill>
            <a:srgbClr val="50E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597334" y="395020"/>
            <a:ext cx="27432" cy="27432"/>
          </a:xfrm>
          <a:prstGeom prst="ellipse">
            <a:avLst/>
          </a:prstGeom>
          <a:solidFill>
            <a:srgbClr val="7AA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655855" y="395020"/>
            <a:ext cx="27432" cy="27432"/>
          </a:xfrm>
          <a:prstGeom prst="ellipse">
            <a:avLst/>
          </a:prstGeom>
          <a:solidFill>
            <a:srgbClr val="F4D3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384048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7AA7FF"/>
                </a:solidFill>
                <a:latin typeface="Segoe UI"/>
              </a:rPr>
              <a:t>CHƯƠNG 2 · KHÁM PHÁ DỮ LIỆU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8368"/>
            <a:ext cx="10607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F1F5F9"/>
                </a:solidFill>
                <a:latin typeface="Segoe UI"/>
              </a:rPr>
              <a:t>EDA — 8.417 review ITviec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298448"/>
            <a:ext cx="502920" cy="40640"/>
          </a:xfrm>
          <a:prstGeom prst="rect">
            <a:avLst/>
          </a:prstGeom>
          <a:solidFill>
            <a:srgbClr val="50E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688"/>
                </a:solidFill>
                <a:latin typeface="Segoe UI"/>
              </a:rPr>
              <a:t>Phân tích Cảm xúc Đánh giá ITviec  ·  Nhóm 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11535" y="6473952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6B7688"/>
                </a:solidFill>
                <a:latin typeface="Segoe UI"/>
              </a:rPr>
              <a:t>04 / 15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1508760"/>
            <a:ext cx="3611880" cy="434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242C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eda_sentiment_cou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" y="2618309"/>
            <a:ext cx="3355848" cy="184998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30936" y="5449824"/>
            <a:ext cx="3355848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0">
                <a:solidFill>
                  <a:srgbClr val="333A44"/>
                </a:solidFill>
                <a:latin typeface="Segoe UI"/>
              </a:rPr>
              <a:t>Phân bố nhãn: 73.8% Tích cực · 19.5% Trung tính · 6.8% Tiêu cực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79392" y="1508760"/>
            <a:ext cx="3611880" cy="434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242C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eda_text_length_distrib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7408" y="2916906"/>
            <a:ext cx="3355848" cy="1252787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407408" y="5449824"/>
            <a:ext cx="3355848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0">
                <a:solidFill>
                  <a:srgbClr val="333A44"/>
                </a:solidFill>
                <a:latin typeface="Segoe UI"/>
              </a:rPr>
              <a:t>Phân bố độ dài văn bản đánh giá theo nhãn cảm xúc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55864" y="1508760"/>
            <a:ext cx="3611880" cy="434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242C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eda_aspect_correl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3880" y="2083030"/>
            <a:ext cx="3355848" cy="292054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8183880" y="5449824"/>
            <a:ext cx="3355848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0">
                <a:solidFill>
                  <a:srgbClr val="333A44"/>
                </a:solidFill>
                <a:latin typeface="Segoe UI"/>
              </a:rPr>
              <a:t>Tương quan giữa các khía cạnh đánh giá (Lương, Đào tạo, Quản lý...)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B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7AA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14455" y="256032"/>
            <a:ext cx="365760" cy="365760"/>
          </a:xfrm>
          <a:prstGeom prst="rect">
            <a:avLst/>
          </a:prstGeom>
          <a:solidFill>
            <a:srgbClr val="141A24"/>
          </a:solidFill>
          <a:ln w="12700">
            <a:solidFill>
              <a:srgbClr val="2A33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1494922" y="336499"/>
            <a:ext cx="204825" cy="146304"/>
          </a:xfrm>
          <a:prstGeom prst="roundRect">
            <a:avLst>
              <a:gd name="adj" fmla="val 45000"/>
            </a:avLst>
          </a:prstGeom>
          <a:noFill/>
          <a:ln w="13970">
            <a:solidFill>
              <a:srgbClr val="7AA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38813" y="395020"/>
            <a:ext cx="27432" cy="27432"/>
          </a:xfrm>
          <a:prstGeom prst="ellipse">
            <a:avLst/>
          </a:prstGeom>
          <a:solidFill>
            <a:srgbClr val="50E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597334" y="395020"/>
            <a:ext cx="27432" cy="27432"/>
          </a:xfrm>
          <a:prstGeom prst="ellipse">
            <a:avLst/>
          </a:prstGeom>
          <a:solidFill>
            <a:srgbClr val="7AA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655855" y="395020"/>
            <a:ext cx="27432" cy="27432"/>
          </a:xfrm>
          <a:prstGeom prst="ellipse">
            <a:avLst/>
          </a:prstGeom>
          <a:solidFill>
            <a:srgbClr val="F4D3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384048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7AA7FF"/>
                </a:solidFill>
                <a:latin typeface="Segoe UI"/>
              </a:rPr>
              <a:t>CHƯƠNG 3 · THÍ NGHIỆM ĐỐI CHỨNG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8368"/>
            <a:ext cx="10607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F1F5F9"/>
                </a:solidFill>
                <a:latin typeface="Segoe UI"/>
              </a:rPr>
              <a:t>Feature Ablation Study — Text vs. Text + Lexicon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298448"/>
            <a:ext cx="502920" cy="40640"/>
          </a:xfrm>
          <a:prstGeom prst="rect">
            <a:avLst/>
          </a:prstGeom>
          <a:solidFill>
            <a:srgbClr val="50E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688"/>
                </a:solidFill>
                <a:latin typeface="Segoe UI"/>
              </a:rPr>
              <a:t>Phân tích Cảm xúc Đánh giá ITviec  ·  Nhóm 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11535" y="6473952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6B7688"/>
                </a:solidFill>
                <a:latin typeface="Segoe UI"/>
              </a:rPr>
              <a:t>05 / 15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1508760"/>
            <a:ext cx="6492240" cy="434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242C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eda_feature_ablation_c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" y="1778358"/>
            <a:ext cx="6236208" cy="3529885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30936" y="5449824"/>
            <a:ext cx="6236208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0">
                <a:solidFill>
                  <a:srgbClr val="333A44"/>
                </a:solidFill>
                <a:latin typeface="Segoe UI"/>
              </a:rPr>
              <a:t>So sánh 5-fold Stratified CV Macro F1 giữa các nhóm đặc trưng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178040" y="1508760"/>
            <a:ext cx="2203704" cy="1051560"/>
          </a:xfrm>
          <a:prstGeom prst="rect">
            <a:avLst/>
          </a:prstGeom>
          <a:solidFill>
            <a:srgbClr val="141A24"/>
          </a:solidFill>
          <a:ln w="12700">
            <a:solidFill>
              <a:srgbClr val="242C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0" y="1581912"/>
            <a:ext cx="1929384" cy="301625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50E3A4"/>
                </a:solidFill>
                <a:latin typeface="Segoe UI"/>
              </a:rPr>
              <a:t>0.5579 → 0.5664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1920113"/>
            <a:ext cx="1929384" cy="58534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A0ADBF"/>
                </a:solidFill>
                <a:latin typeface="Segoe UI"/>
              </a:rPr>
              <a:t>CV Macro F1</a:t>
            </a:r>
          </a:p>
          <a:p>
            <a:pPr algn="l">
              <a:lnSpc>
                <a:spcPct val="105000"/>
              </a:lnSpc>
            </a:pPr>
            <a:r>
              <a:rPr sz="1050" b="0">
                <a:solidFill>
                  <a:srgbClr val="A0ADBF"/>
                </a:solidFill>
                <a:latin typeface="Segoe UI"/>
              </a:rPr>
              <a:t>Text-only → Text+Lexicon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546336" y="1508760"/>
            <a:ext cx="2203704" cy="1051560"/>
          </a:xfrm>
          <a:prstGeom prst="rect">
            <a:avLst/>
          </a:prstGeom>
          <a:solidFill>
            <a:srgbClr val="141A24"/>
          </a:solidFill>
          <a:ln w="12700">
            <a:solidFill>
              <a:srgbClr val="242C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83496" y="1581912"/>
            <a:ext cx="1929384" cy="333375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FF994F"/>
                </a:solidFill>
                <a:latin typeface="Segoe UI"/>
              </a:rPr>
              <a:t>45.6% → 48.0%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83496" y="1951863"/>
            <a:ext cx="1929384" cy="55359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A0ADBF"/>
                </a:solidFill>
                <a:latin typeface="Segoe UI"/>
              </a:rPr>
              <a:t>Recall lớp Tiêu cực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178040" y="2743200"/>
            <a:ext cx="4572000" cy="1691640"/>
          </a:xfrm>
          <a:prstGeom prst="rect">
            <a:avLst/>
          </a:prstGeom>
          <a:solidFill>
            <a:srgbClr val="141A24"/>
          </a:solidFill>
          <a:ln w="12700">
            <a:solidFill>
              <a:srgbClr val="242C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60920" y="2880360"/>
            <a:ext cx="4206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7AA7FF"/>
                </a:solidFill>
                <a:latin typeface="Segoe UI"/>
              </a:rPr>
              <a:t>5.005 CHIỀU ĐẶC TRƯNG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60920" y="3172968"/>
            <a:ext cx="42062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A0ADBF"/>
                </a:solidFill>
                <a:latin typeface="Segoe UI"/>
              </a:rPr>
              <a:t>TF-IDF (5.000 chiều n-gram 1-2) song song với 5 đặc trưng Lexicon cảm xúc domain IT, chuẩn hoá MinMaxScaler — cải thiện ổn định trên cả Macro F1 và Recall lớp thiểu số.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178040" y="4572000"/>
            <a:ext cx="4572000" cy="1280160"/>
          </a:xfrm>
          <a:prstGeom prst="rect">
            <a:avLst/>
          </a:prstGeom>
          <a:solidFill>
            <a:srgbClr val="11161F"/>
          </a:solidFill>
          <a:ln w="12700">
            <a:solidFill>
              <a:srgbClr val="FF66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60920" y="4709160"/>
            <a:ext cx="4206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80" b="1">
                <a:solidFill>
                  <a:srgbClr val="FF6677"/>
                </a:solidFill>
                <a:latin typeface="Segoe UI"/>
              </a:rPr>
              <a:t>⚠ VÌ SAO LOẠI BỎ ASPECT RATINGS?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60920" y="5001768"/>
            <a:ext cx="4206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80" b="0">
                <a:solidFill>
                  <a:srgbClr val="A0ADBF"/>
                </a:solidFill>
                <a:latin typeface="Segoe UI"/>
              </a:rPr>
              <a:t>Dù Text+Aspect đạt Macro F1 0.7433, đặc trưng này gần trùng nhãn mục tiêu → rủi ro Data Shortcut, không phản ánh khả năng hiểu ngôn ngữ thật của mô hình.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B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7AA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14455" y="256032"/>
            <a:ext cx="365760" cy="365760"/>
          </a:xfrm>
          <a:prstGeom prst="rect">
            <a:avLst/>
          </a:prstGeom>
          <a:solidFill>
            <a:srgbClr val="141A24"/>
          </a:solidFill>
          <a:ln w="12700">
            <a:solidFill>
              <a:srgbClr val="2A33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1494922" y="336499"/>
            <a:ext cx="204825" cy="146304"/>
          </a:xfrm>
          <a:prstGeom prst="roundRect">
            <a:avLst>
              <a:gd name="adj" fmla="val 45000"/>
            </a:avLst>
          </a:prstGeom>
          <a:noFill/>
          <a:ln w="13970">
            <a:solidFill>
              <a:srgbClr val="7AA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38813" y="395020"/>
            <a:ext cx="27432" cy="27432"/>
          </a:xfrm>
          <a:prstGeom prst="ellipse">
            <a:avLst/>
          </a:prstGeom>
          <a:solidFill>
            <a:srgbClr val="50E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597334" y="395020"/>
            <a:ext cx="27432" cy="27432"/>
          </a:xfrm>
          <a:prstGeom prst="ellipse">
            <a:avLst/>
          </a:prstGeom>
          <a:solidFill>
            <a:srgbClr val="7AA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655855" y="395020"/>
            <a:ext cx="27432" cy="27432"/>
          </a:xfrm>
          <a:prstGeom prst="ellipse">
            <a:avLst/>
          </a:prstGeom>
          <a:solidFill>
            <a:srgbClr val="F4D3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384048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7AA7FF"/>
                </a:solidFill>
                <a:latin typeface="Segoe UI"/>
              </a:rPr>
              <a:t>CHƯƠNG 3 · MÔ HÌNH HOÁ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8368"/>
            <a:ext cx="10607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F1F5F9"/>
                </a:solidFill>
                <a:latin typeface="Segoe UI"/>
              </a:rPr>
              <a:t>4 Mô hình ML cơ sở &amp; Kỹ thuật Stacking Ensemble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298448"/>
            <a:ext cx="502920" cy="40640"/>
          </a:xfrm>
          <a:prstGeom prst="rect">
            <a:avLst/>
          </a:prstGeom>
          <a:solidFill>
            <a:srgbClr val="50E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688"/>
                </a:solidFill>
                <a:latin typeface="Segoe UI"/>
              </a:rPr>
              <a:t>Phân tích Cảm xúc Đánh giá ITviec  ·  Nhóm 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11535" y="6473952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6B7688"/>
                </a:solidFill>
                <a:latin typeface="Segoe UI"/>
              </a:rPr>
              <a:t>06 / 15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1508760"/>
            <a:ext cx="5120640" cy="4343400"/>
          </a:xfrm>
          <a:prstGeom prst="rect">
            <a:avLst/>
          </a:prstGeom>
          <a:solidFill>
            <a:srgbClr val="141A24"/>
          </a:solidFill>
          <a:ln w="12700">
            <a:solidFill>
              <a:srgbClr val="242C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1508760"/>
            <a:ext cx="5120640" cy="45720"/>
          </a:xfrm>
          <a:prstGeom prst="rect">
            <a:avLst/>
          </a:prstGeom>
          <a:solidFill>
            <a:srgbClr val="7AA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1655064"/>
            <a:ext cx="4754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F1F5F9"/>
                </a:solidFill>
                <a:latin typeface="Segoe UI"/>
              </a:rPr>
              <a:t>4 mô hình nền tảng (class_weight='balanced')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04088" y="2130552"/>
            <a:ext cx="4718304" cy="713232"/>
          </a:xfrm>
          <a:prstGeom prst="rect">
            <a:avLst/>
          </a:prstGeom>
          <a:solidFill>
            <a:srgbClr val="11161F"/>
          </a:solidFill>
          <a:ln w="12700">
            <a:solidFill>
              <a:srgbClr val="242C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04088" y="2130552"/>
            <a:ext cx="64008" cy="713232"/>
          </a:xfrm>
          <a:prstGeom prst="rect">
            <a:avLst/>
          </a:prstGeom>
          <a:solidFill>
            <a:srgbClr val="7AA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2240280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1F5F9"/>
                </a:solidFill>
                <a:latin typeface="Segoe UI"/>
              </a:rPr>
              <a:t>Logistic Regression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2532888"/>
            <a:ext cx="30175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A0ADBF"/>
                </a:solidFill>
                <a:latin typeface="Segoe UI"/>
              </a:rPr>
              <a:t>CV Macro F1 (GridSearchCV, 5-fold)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86200" y="2240280"/>
            <a:ext cx="14173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2000" b="1">
                <a:solidFill>
                  <a:srgbClr val="7AA7FF"/>
                </a:solidFill>
                <a:latin typeface="Segoe UI"/>
              </a:rPr>
              <a:t>0.5567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04088" y="2990088"/>
            <a:ext cx="4718304" cy="713232"/>
          </a:xfrm>
          <a:prstGeom prst="rect">
            <a:avLst/>
          </a:prstGeom>
          <a:solidFill>
            <a:srgbClr val="11161F"/>
          </a:solidFill>
          <a:ln w="12700">
            <a:solidFill>
              <a:srgbClr val="242C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04088" y="2990088"/>
            <a:ext cx="64008" cy="713232"/>
          </a:xfrm>
          <a:prstGeom prst="rect">
            <a:avLst/>
          </a:prstGeom>
          <a:solidFill>
            <a:srgbClr val="50E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3099816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1F5F9"/>
                </a:solidFill>
                <a:latin typeface="Segoe UI"/>
              </a:rPr>
              <a:t>Linear SVM (Platt scaling)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3392424"/>
            <a:ext cx="30175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A0ADBF"/>
                </a:solidFill>
                <a:latin typeface="Segoe UI"/>
              </a:rPr>
              <a:t>CV Macro F1 (GridSearchCV, 5-fold)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86200" y="3099816"/>
            <a:ext cx="14173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2000" b="1">
                <a:solidFill>
                  <a:srgbClr val="50E3A4"/>
                </a:solidFill>
                <a:latin typeface="Segoe UI"/>
              </a:rPr>
              <a:t>0.5561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04088" y="3849624"/>
            <a:ext cx="4718304" cy="713232"/>
          </a:xfrm>
          <a:prstGeom prst="rect">
            <a:avLst/>
          </a:prstGeom>
          <a:solidFill>
            <a:srgbClr val="11161F"/>
          </a:solidFill>
          <a:ln w="12700">
            <a:solidFill>
              <a:srgbClr val="242C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04088" y="3849624"/>
            <a:ext cx="64008" cy="713232"/>
          </a:xfrm>
          <a:prstGeom prst="rect">
            <a:avLst/>
          </a:prstGeom>
          <a:solidFill>
            <a:srgbClr val="F4D3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3959352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1F5F9"/>
                </a:solidFill>
                <a:latin typeface="Segoe UI"/>
              </a:rPr>
              <a:t>Random Forest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4251960"/>
            <a:ext cx="30175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A0ADBF"/>
                </a:solidFill>
                <a:latin typeface="Segoe UI"/>
              </a:rPr>
              <a:t>CV Macro F1 (GridSearchCV, 5-fold)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86200" y="3959352"/>
            <a:ext cx="14173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2000" b="1">
                <a:solidFill>
                  <a:srgbClr val="F4D35E"/>
                </a:solidFill>
                <a:latin typeface="Segoe UI"/>
              </a:rPr>
              <a:t>0.5515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04088" y="4709160"/>
            <a:ext cx="4718304" cy="713232"/>
          </a:xfrm>
          <a:prstGeom prst="rect">
            <a:avLst/>
          </a:prstGeom>
          <a:solidFill>
            <a:srgbClr val="11161F"/>
          </a:solidFill>
          <a:ln w="12700">
            <a:solidFill>
              <a:srgbClr val="242C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04088" y="4709160"/>
            <a:ext cx="64008" cy="713232"/>
          </a:xfrm>
          <a:prstGeom prst="rect">
            <a:avLst/>
          </a:prstGeom>
          <a:solidFill>
            <a:srgbClr val="FF9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4400" y="481888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1F5F9"/>
                </a:solidFill>
                <a:latin typeface="Segoe UI"/>
              </a:rPr>
              <a:t>Multinomial Naive Bayes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" y="5111496"/>
            <a:ext cx="30175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A0ADBF"/>
                </a:solidFill>
                <a:latin typeface="Segoe UI"/>
              </a:rPr>
              <a:t>CV Macro F1 (GridSearchCV, 5-fold)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886200" y="4818888"/>
            <a:ext cx="14173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2000" b="1">
                <a:solidFill>
                  <a:srgbClr val="FF994F"/>
                </a:solidFill>
                <a:latin typeface="Segoe UI"/>
              </a:rPr>
              <a:t>0.4890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09360" y="1508760"/>
            <a:ext cx="5349240" cy="4343400"/>
          </a:xfrm>
          <a:prstGeom prst="rect">
            <a:avLst/>
          </a:prstGeom>
          <a:solidFill>
            <a:srgbClr val="141A24"/>
          </a:solidFill>
          <a:ln w="12700">
            <a:solidFill>
              <a:srgbClr val="242C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309360" y="1508760"/>
            <a:ext cx="5349240" cy="45720"/>
          </a:xfrm>
          <a:prstGeom prst="rect">
            <a:avLst/>
          </a:prstGeom>
          <a:solidFill>
            <a:srgbClr val="50E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92240" y="1655064"/>
            <a:ext cx="4983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F1F5F9"/>
                </a:solidFill>
                <a:latin typeface="Segoe UI"/>
              </a:rPr>
              <a:t>Stacking Ensemble Classifier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10528" y="2103120"/>
            <a:ext cx="49377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A0ADBF"/>
                </a:solidFill>
                <a:latin typeface="Segoe UI"/>
              </a:rPr>
              <a:t>Kết hợp 3 base estimator tốt nhất (NB + LR + SVM); meta-classifier Logistic Regression tổng hợp dự đoán (StackingClassifier, cv=5).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629400" y="2880360"/>
            <a:ext cx="1417320" cy="548640"/>
          </a:xfrm>
          <a:prstGeom prst="rect">
            <a:avLst/>
          </a:prstGeom>
          <a:solidFill>
            <a:srgbClr val="11161F"/>
          </a:solidFill>
          <a:ln w="12700">
            <a:solidFill>
              <a:srgbClr val="242C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629400" y="2953512"/>
            <a:ext cx="1417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1F5F9"/>
                </a:solidFill>
                <a:latin typeface="Segoe UI"/>
              </a:rPr>
              <a:t>Naive Bayes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183880" y="2880360"/>
            <a:ext cx="1417320" cy="548640"/>
          </a:xfrm>
          <a:prstGeom prst="rect">
            <a:avLst/>
          </a:prstGeom>
          <a:solidFill>
            <a:srgbClr val="11161F"/>
          </a:solidFill>
          <a:ln w="12700">
            <a:solidFill>
              <a:srgbClr val="242C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183880" y="2953512"/>
            <a:ext cx="1417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1F5F9"/>
                </a:solidFill>
                <a:latin typeface="Segoe UI"/>
              </a:rPr>
              <a:t>Logistic Regression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738360" y="2880360"/>
            <a:ext cx="1417320" cy="548640"/>
          </a:xfrm>
          <a:prstGeom prst="rect">
            <a:avLst/>
          </a:prstGeom>
          <a:solidFill>
            <a:srgbClr val="11161F"/>
          </a:solidFill>
          <a:ln w="12700">
            <a:solidFill>
              <a:srgbClr val="242C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738360" y="2953512"/>
            <a:ext cx="1417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1F5F9"/>
                </a:solidFill>
                <a:latin typeface="Segoe UI"/>
              </a:rPr>
              <a:t>Linear SVM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7338060" y="3429000"/>
            <a:ext cx="1554480" cy="228600"/>
          </a:xfrm>
          <a:prstGeom prst="line">
            <a:avLst/>
          </a:prstGeom>
          <a:ln w="15240">
            <a:solidFill>
              <a:srgbClr val="242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8892540" y="3429000"/>
            <a:ext cx="0" cy="228600"/>
          </a:xfrm>
          <a:prstGeom prst="line">
            <a:avLst/>
          </a:prstGeom>
          <a:ln w="15240">
            <a:solidFill>
              <a:srgbClr val="242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H="1">
            <a:off x="8892540" y="3429000"/>
            <a:ext cx="1554480" cy="228600"/>
          </a:xfrm>
          <a:prstGeom prst="line">
            <a:avLst/>
          </a:prstGeom>
          <a:ln w="15240">
            <a:solidFill>
              <a:srgbClr val="242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ectangle 49"/>
          <p:cNvSpPr/>
          <p:nvPr/>
        </p:nvSpPr>
        <p:spPr>
          <a:xfrm>
            <a:off x="7703820" y="3657600"/>
            <a:ext cx="2377440" cy="548640"/>
          </a:xfrm>
          <a:prstGeom prst="rect">
            <a:avLst/>
          </a:prstGeom>
          <a:solidFill>
            <a:srgbClr val="50E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703820" y="3730752"/>
            <a:ext cx="23774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080B10"/>
                </a:solidFill>
                <a:latin typeface="Segoe UI"/>
              </a:rPr>
              <a:t>Meta: Logistic Regression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629400" y="4526280"/>
            <a:ext cx="2377440" cy="914400"/>
          </a:xfrm>
          <a:prstGeom prst="rect">
            <a:avLst/>
          </a:prstGeom>
          <a:solidFill>
            <a:srgbClr val="141A24"/>
          </a:solidFill>
          <a:ln w="12700">
            <a:solidFill>
              <a:srgbClr val="242C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766560" y="4599432"/>
            <a:ext cx="2103120" cy="38100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50E3A4"/>
                </a:solidFill>
                <a:latin typeface="Segoe UI"/>
              </a:rPr>
              <a:t>0.5619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766560" y="5017008"/>
            <a:ext cx="2103120" cy="368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A0ADBF"/>
                </a:solidFill>
                <a:latin typeface="Segoe UI"/>
              </a:rPr>
              <a:t>CV Macro F1 — tốt nhất trong 5 mô hình ML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144000" y="4526280"/>
            <a:ext cx="2377440" cy="914400"/>
          </a:xfrm>
          <a:prstGeom prst="rect">
            <a:avLst/>
          </a:prstGeom>
          <a:solidFill>
            <a:srgbClr val="141A24"/>
          </a:solidFill>
          <a:ln w="12700">
            <a:solidFill>
              <a:srgbClr val="242C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281160" y="4599432"/>
            <a:ext cx="2103120" cy="38100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7AA7FF"/>
                </a:solidFill>
                <a:latin typeface="Segoe UI"/>
              </a:rPr>
              <a:t>0.7766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281160" y="5017008"/>
            <a:ext cx="2103120" cy="368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A0ADBF"/>
                </a:solidFill>
                <a:latin typeface="Segoe UI"/>
              </a:rPr>
              <a:t>Accuracy trên Final Test khoá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B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7AA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14455" y="256032"/>
            <a:ext cx="365760" cy="365760"/>
          </a:xfrm>
          <a:prstGeom prst="rect">
            <a:avLst/>
          </a:prstGeom>
          <a:solidFill>
            <a:srgbClr val="141A24"/>
          </a:solidFill>
          <a:ln w="12700">
            <a:solidFill>
              <a:srgbClr val="2A33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1494922" y="336499"/>
            <a:ext cx="204825" cy="146304"/>
          </a:xfrm>
          <a:prstGeom prst="roundRect">
            <a:avLst>
              <a:gd name="adj" fmla="val 45000"/>
            </a:avLst>
          </a:prstGeom>
          <a:noFill/>
          <a:ln w="13970">
            <a:solidFill>
              <a:srgbClr val="7AA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38813" y="395020"/>
            <a:ext cx="27432" cy="27432"/>
          </a:xfrm>
          <a:prstGeom prst="ellipse">
            <a:avLst/>
          </a:prstGeom>
          <a:solidFill>
            <a:srgbClr val="50E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597334" y="395020"/>
            <a:ext cx="27432" cy="27432"/>
          </a:xfrm>
          <a:prstGeom prst="ellipse">
            <a:avLst/>
          </a:prstGeom>
          <a:solidFill>
            <a:srgbClr val="7AA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655855" y="395020"/>
            <a:ext cx="27432" cy="27432"/>
          </a:xfrm>
          <a:prstGeom prst="ellipse">
            <a:avLst/>
          </a:prstGeom>
          <a:solidFill>
            <a:srgbClr val="F4D3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384048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7AA7FF"/>
                </a:solidFill>
                <a:latin typeface="Segoe UI"/>
              </a:rPr>
              <a:t>CHƯƠNG 3 · DEEP LEARNING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8368"/>
            <a:ext cx="10607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F1F5F9"/>
                </a:solidFill>
                <a:latin typeface="Segoe UI"/>
              </a:rPr>
              <a:t>Thử nghiệm ViSoBERT (Transformer) trên GPU Runpod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298448"/>
            <a:ext cx="502920" cy="40640"/>
          </a:xfrm>
          <a:prstGeom prst="rect">
            <a:avLst/>
          </a:prstGeom>
          <a:solidFill>
            <a:srgbClr val="50E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688"/>
                </a:solidFill>
                <a:latin typeface="Segoe UI"/>
              </a:rPr>
              <a:t>Phân tích Cảm xúc Đánh giá ITviec  ·  Nhóm 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11535" y="6473952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6B7688"/>
                </a:solidFill>
                <a:latin typeface="Segoe UI"/>
              </a:rPr>
              <a:t>07 / 15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1508760"/>
            <a:ext cx="5212080" cy="4343400"/>
          </a:xfrm>
          <a:prstGeom prst="rect">
            <a:avLst/>
          </a:prstGeom>
          <a:solidFill>
            <a:srgbClr val="141A24"/>
          </a:solidFill>
          <a:ln w="12700">
            <a:solidFill>
              <a:srgbClr val="242C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1508760"/>
            <a:ext cx="5212080" cy="45720"/>
          </a:xfrm>
          <a:prstGeom prst="rect">
            <a:avLst/>
          </a:prstGeom>
          <a:solidFill>
            <a:srgbClr val="FF9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1655064"/>
            <a:ext cx="4846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F1F5F9"/>
                </a:solidFill>
                <a:latin typeface="Segoe UI"/>
              </a:rPr>
              <a:t>Kết quả Zero-shot trên Final Test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04088" y="2103120"/>
            <a:ext cx="2331720" cy="960120"/>
          </a:xfrm>
          <a:prstGeom prst="rect">
            <a:avLst/>
          </a:prstGeom>
          <a:solidFill>
            <a:srgbClr val="141A24"/>
          </a:solidFill>
          <a:ln w="12700">
            <a:solidFill>
              <a:srgbClr val="242C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" y="2176272"/>
            <a:ext cx="2057400" cy="38100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F994F"/>
                </a:solidFill>
                <a:latin typeface="Segoe UI"/>
              </a:rPr>
              <a:t>0.4036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" y="2593848"/>
            <a:ext cx="2057400" cy="4145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A0ADBF"/>
                </a:solidFill>
                <a:latin typeface="Segoe UI"/>
              </a:rPr>
              <a:t>Macro F1 (ViSoBERT)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154680" y="2103120"/>
            <a:ext cx="2331720" cy="960120"/>
          </a:xfrm>
          <a:prstGeom prst="rect">
            <a:avLst/>
          </a:prstGeom>
          <a:solidFill>
            <a:srgbClr val="141A24"/>
          </a:solidFill>
          <a:ln w="12700">
            <a:solidFill>
              <a:srgbClr val="242C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91840" y="2176272"/>
            <a:ext cx="2057400" cy="38100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7AA7FF"/>
                </a:solidFill>
                <a:latin typeface="Segoe UI"/>
              </a:rPr>
              <a:t>65.36%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91840" y="2593848"/>
            <a:ext cx="2057400" cy="4145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A0ADBF"/>
                </a:solidFill>
                <a:latin typeface="Segoe UI"/>
              </a:rPr>
              <a:t>Accuracy tổng thể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04088" y="3246120"/>
            <a:ext cx="2331720" cy="960120"/>
          </a:xfrm>
          <a:prstGeom prst="rect">
            <a:avLst/>
          </a:prstGeom>
          <a:solidFill>
            <a:srgbClr val="141A24"/>
          </a:solidFill>
          <a:ln w="12700">
            <a:solidFill>
              <a:srgbClr val="242C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1248" y="3319272"/>
            <a:ext cx="2057400" cy="38100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50E3A4"/>
                </a:solidFill>
                <a:latin typeface="Segoe UI"/>
              </a:rPr>
              <a:t>75.44%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" y="3736848"/>
            <a:ext cx="2057400" cy="4145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A0ADBF"/>
                </a:solidFill>
                <a:latin typeface="Segoe UI"/>
              </a:rPr>
              <a:t>Recall lớp Tiêu cực (vượt Stacking)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154680" y="3246120"/>
            <a:ext cx="2331720" cy="960120"/>
          </a:xfrm>
          <a:prstGeom prst="rect">
            <a:avLst/>
          </a:prstGeom>
          <a:solidFill>
            <a:srgbClr val="141A24"/>
          </a:solidFill>
          <a:ln w="12700">
            <a:solidFill>
              <a:srgbClr val="242C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91840" y="3319272"/>
            <a:ext cx="2057400" cy="38100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F6677"/>
                </a:solidFill>
                <a:latin typeface="Segoe UI"/>
              </a:rPr>
              <a:t>4.88%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91840" y="3736848"/>
            <a:ext cx="2057400" cy="4145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A0ADBF"/>
                </a:solidFill>
                <a:latin typeface="Segoe UI"/>
              </a:rPr>
              <a:t>Recall lớp Trung tính (gần như không nhận ra)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4088" y="4434840"/>
            <a:ext cx="47548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A0ADBF"/>
                </a:solidFill>
                <a:latin typeface="Segoe UI"/>
              </a:rPr>
              <a:t>So với Stacking (Acc 0.7766, Macro F1 0.5475): ViSoBERT zero-shot yếu hơn tổng thể nhưng vượt trội ở khả năng phát hiện Tiêu cực — đánh đổi bằng việc bỏ sót gần hết lớp Trung tính.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09360" y="1508760"/>
            <a:ext cx="5349240" cy="4343400"/>
          </a:xfrm>
          <a:prstGeom prst="rect">
            <a:avLst/>
          </a:prstGeom>
          <a:solidFill>
            <a:srgbClr val="141A24"/>
          </a:solidFill>
          <a:ln w="12700">
            <a:solidFill>
              <a:srgbClr val="242C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309360" y="1508760"/>
            <a:ext cx="5349240" cy="45720"/>
          </a:xfrm>
          <a:prstGeom prst="rect">
            <a:avLst/>
          </a:prstGeom>
          <a:solidFill>
            <a:srgbClr val="FF6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92240" y="1655064"/>
            <a:ext cx="4983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F1F5F9"/>
                </a:solidFill>
                <a:latin typeface="Segoe UI"/>
              </a:rPr>
              <a:t>Vì sao Tiền xử lý cổ điển "xung đột" với Transformer?</a:t>
            </a:r>
          </a:p>
        </p:txBody>
      </p:sp>
      <p:sp>
        <p:nvSpPr>
          <p:cNvPr id="33" name="Oval 32"/>
          <p:cNvSpPr/>
          <p:nvPr/>
        </p:nvSpPr>
        <p:spPr>
          <a:xfrm>
            <a:off x="6528816" y="2157984"/>
            <a:ext cx="82296" cy="82296"/>
          </a:xfrm>
          <a:prstGeom prst="ellipse">
            <a:avLst/>
          </a:prstGeom>
          <a:solidFill>
            <a:srgbClr val="FF6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711696" y="2103120"/>
            <a:ext cx="47548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F1F5F9"/>
                </a:solidFill>
                <a:latin typeface="Segoe UI"/>
              </a:rPr>
              <a:t>Over-cleaning: </a:t>
            </a:r>
            <a:r>
              <a:rPr sz="1200" b="0">
                <a:solidFill>
                  <a:srgbClr val="A0ADBF"/>
                </a:solidFill>
                <a:latin typeface="Segoe UI"/>
              </a:rPr>
              <a:t>loại stopword/tách từ làm mất ngữ cảnh câu mà Self-Attention cần để học quan hệ giữa các từ.</a:t>
            </a:r>
          </a:p>
        </p:txBody>
      </p:sp>
      <p:sp>
        <p:nvSpPr>
          <p:cNvPr id="35" name="Oval 34"/>
          <p:cNvSpPr/>
          <p:nvPr/>
        </p:nvSpPr>
        <p:spPr>
          <a:xfrm>
            <a:off x="6528816" y="3054096"/>
            <a:ext cx="82296" cy="82296"/>
          </a:xfrm>
          <a:prstGeom prst="ellipse">
            <a:avLst/>
          </a:prstGeom>
          <a:solidFill>
            <a:srgbClr val="FF6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711696" y="2999232"/>
            <a:ext cx="47548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F1F5F9"/>
                </a:solidFill>
                <a:latin typeface="Segoe UI"/>
              </a:rPr>
              <a:t>Tokenizer BPE riêng biệt: </a:t>
            </a:r>
            <a:r>
              <a:rPr sz="1200" b="0">
                <a:solidFill>
                  <a:srgbClr val="A0ADBF"/>
                </a:solidFill>
                <a:latin typeface="Segoe UI"/>
              </a:rPr>
              <a:t>ViSoBERT đã có subword tokenizer huấn luyện trên dữ liệu mạng xã hội — tiền xử lý thêm gây méo phân phối token.</a:t>
            </a:r>
          </a:p>
        </p:txBody>
      </p:sp>
      <p:sp>
        <p:nvSpPr>
          <p:cNvPr id="37" name="Oval 36"/>
          <p:cNvSpPr/>
          <p:nvPr/>
        </p:nvSpPr>
        <p:spPr>
          <a:xfrm>
            <a:off x="6528816" y="3950208"/>
            <a:ext cx="82296" cy="82296"/>
          </a:xfrm>
          <a:prstGeom prst="ellipse">
            <a:avLst/>
          </a:prstGeom>
          <a:solidFill>
            <a:srgbClr val="FF6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711696" y="3895344"/>
            <a:ext cx="47548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F1F5F9"/>
                </a:solidFill>
                <a:latin typeface="Segoe UI"/>
              </a:rPr>
              <a:t>Zero-shot, chưa fine-tune: </a:t>
            </a:r>
            <a:r>
              <a:rPr sz="1200" b="0">
                <a:solidFill>
                  <a:srgbClr val="A0ADBF"/>
                </a:solidFill>
                <a:latin typeface="Segoe UI"/>
              </a:rPr>
              <a:t>mô hình chưa được huấn luyện lại trên domain review IT nên chưa tối ưu cho bài toán 3 lớp.</a:t>
            </a:r>
          </a:p>
        </p:txBody>
      </p:sp>
      <p:sp>
        <p:nvSpPr>
          <p:cNvPr id="39" name="Oval 38"/>
          <p:cNvSpPr/>
          <p:nvPr/>
        </p:nvSpPr>
        <p:spPr>
          <a:xfrm>
            <a:off x="6528816" y="4846320"/>
            <a:ext cx="82296" cy="82296"/>
          </a:xfrm>
          <a:prstGeom prst="ellipse">
            <a:avLst/>
          </a:prstGeom>
          <a:solidFill>
            <a:srgbClr val="FF6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711696" y="4791456"/>
            <a:ext cx="47548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F1F5F9"/>
                </a:solidFill>
                <a:latin typeface="Segoe UI"/>
              </a:rPr>
              <a:t>Hạ tầng GPU Runpod: </a:t>
            </a:r>
            <a:r>
              <a:rPr sz="1200" b="0">
                <a:solidFill>
                  <a:srgbClr val="A0ADBF"/>
                </a:solidFill>
                <a:latin typeface="Segoe UI"/>
              </a:rPr>
              <a:t>phù hợp huấn luyện DL nhưng công đoạn fine-tune đầy đủ nằm ở hướng phát triển tiếp theo.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B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7AA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14455" y="256032"/>
            <a:ext cx="365760" cy="365760"/>
          </a:xfrm>
          <a:prstGeom prst="rect">
            <a:avLst/>
          </a:prstGeom>
          <a:solidFill>
            <a:srgbClr val="141A24"/>
          </a:solidFill>
          <a:ln w="12700">
            <a:solidFill>
              <a:srgbClr val="2A33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1494922" y="336499"/>
            <a:ext cx="204825" cy="146304"/>
          </a:xfrm>
          <a:prstGeom prst="roundRect">
            <a:avLst>
              <a:gd name="adj" fmla="val 45000"/>
            </a:avLst>
          </a:prstGeom>
          <a:noFill/>
          <a:ln w="13970">
            <a:solidFill>
              <a:srgbClr val="7AA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38813" y="395020"/>
            <a:ext cx="27432" cy="27432"/>
          </a:xfrm>
          <a:prstGeom prst="ellipse">
            <a:avLst/>
          </a:prstGeom>
          <a:solidFill>
            <a:srgbClr val="50E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597334" y="395020"/>
            <a:ext cx="27432" cy="27432"/>
          </a:xfrm>
          <a:prstGeom prst="ellipse">
            <a:avLst/>
          </a:prstGeom>
          <a:solidFill>
            <a:srgbClr val="7AA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655855" y="395020"/>
            <a:ext cx="27432" cy="27432"/>
          </a:xfrm>
          <a:prstGeom prst="ellipse">
            <a:avLst/>
          </a:prstGeom>
          <a:solidFill>
            <a:srgbClr val="F4D3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384048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7AA7FF"/>
                </a:solidFill>
                <a:latin typeface="Segoe UI"/>
              </a:rPr>
              <a:t>CHƯƠNG 4 · KẾT QUẢ THỰC NGHIỆM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8368"/>
            <a:ext cx="10607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F1F5F9"/>
                </a:solidFill>
                <a:latin typeface="Segoe UI"/>
              </a:rPr>
              <a:t>Bảng Leaderboard tổng hợp &amp; Ma trận nhầm lẫn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298448"/>
            <a:ext cx="502920" cy="40640"/>
          </a:xfrm>
          <a:prstGeom prst="rect">
            <a:avLst/>
          </a:prstGeom>
          <a:solidFill>
            <a:srgbClr val="50E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688"/>
                </a:solidFill>
                <a:latin typeface="Segoe UI"/>
              </a:rPr>
              <a:t>Phân tích Cảm xúc Đánh giá ITviec  ·  Nhóm 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11535" y="6473952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6B7688"/>
                </a:solidFill>
                <a:latin typeface="Segoe UI"/>
              </a:rPr>
              <a:t>08 / 15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502920" y="1508760"/>
          <a:ext cx="594360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1371600"/>
                <a:gridCol w="1371600"/>
              </a:tblGrid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1F5F9"/>
                          </a:solidFill>
                          <a:latin typeface="Segoe UI"/>
                        </a:rPr>
                        <a:t>Mô hình</a:t>
                      </a:r>
                    </a:p>
                  </a:txBody>
                  <a:tcPr marL="73152" marR="73152" marT="36576" marB="36576" anchor="ctr">
                    <a:solidFill>
                      <a:srgbClr val="1116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1F5F9"/>
                          </a:solidFill>
                          <a:latin typeface="Segoe UI"/>
                        </a:rPr>
                        <a:t>CV Macro F1</a:t>
                      </a:r>
                    </a:p>
                  </a:txBody>
                  <a:tcPr marL="73152" marR="73152" marT="36576" marB="36576" anchor="ctr">
                    <a:solidFill>
                      <a:srgbClr val="1116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1F5F9"/>
                          </a:solidFill>
                          <a:latin typeface="Segoe UI"/>
                        </a:rPr>
                        <a:t>Final Test F1</a:t>
                      </a:r>
                    </a:p>
                  </a:txBody>
                  <a:tcPr marL="73152" marR="73152" marT="36576" marB="36576" anchor="ctr">
                    <a:solidFill>
                      <a:srgbClr val="11161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1F5F9"/>
                          </a:solidFill>
                          <a:latin typeface="Segoe UI"/>
                        </a:rPr>
                        <a:t>Stacking (NB+LR+SVM)</a:t>
                      </a:r>
                    </a:p>
                  </a:txBody>
                  <a:tcPr marL="73152" marR="73152" marT="36576" marB="36576" anchor="ctr">
                    <a:solidFill>
                      <a:srgbClr val="1433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1F5F9"/>
                          </a:solidFill>
                          <a:latin typeface="Segoe UI"/>
                        </a:rPr>
                        <a:t>0.5619</a:t>
                      </a:r>
                    </a:p>
                  </a:txBody>
                  <a:tcPr marL="73152" marR="73152" marT="36576" marB="36576" anchor="ctr">
                    <a:solidFill>
                      <a:srgbClr val="1433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1F5F9"/>
                          </a:solidFill>
                          <a:latin typeface="Segoe UI"/>
                        </a:rPr>
                        <a:t>0.5475</a:t>
                      </a:r>
                    </a:p>
                  </a:txBody>
                  <a:tcPr marL="73152" marR="73152" marT="36576" marB="36576" anchor="ctr">
                    <a:solidFill>
                      <a:srgbClr val="14332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A0ADBF"/>
                          </a:solidFill>
                          <a:latin typeface="Segoe UI"/>
                        </a:rPr>
                        <a:t>Logistic Regression</a:t>
                      </a:r>
                    </a:p>
                  </a:txBody>
                  <a:tcPr marL="73152" marR="73152" marT="36576" marB="36576" anchor="ctr">
                    <a:solidFill>
                      <a:srgbClr val="141A2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A0ADBF"/>
                          </a:solidFill>
                          <a:latin typeface="Segoe UI"/>
                        </a:rPr>
                        <a:t>0.5567</a:t>
                      </a:r>
                    </a:p>
                  </a:txBody>
                  <a:tcPr marL="73152" marR="73152" marT="36576" marB="36576" anchor="ctr">
                    <a:solidFill>
                      <a:srgbClr val="141A2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A0ADBF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marL="73152" marR="73152" marT="36576" marB="36576" anchor="ctr">
                    <a:solidFill>
                      <a:srgbClr val="141A2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A0ADBF"/>
                          </a:solidFill>
                          <a:latin typeface="Segoe UI"/>
                        </a:rPr>
                        <a:t>Linear SVM</a:t>
                      </a:r>
                    </a:p>
                  </a:txBody>
                  <a:tcPr marL="73152" marR="73152" marT="36576" marB="36576" anchor="ctr">
                    <a:solidFill>
                      <a:srgbClr val="0B101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A0ADBF"/>
                          </a:solidFill>
                          <a:latin typeface="Segoe UI"/>
                        </a:rPr>
                        <a:t>0.5561</a:t>
                      </a:r>
                    </a:p>
                  </a:txBody>
                  <a:tcPr marL="73152" marR="73152" marT="36576" marB="36576" anchor="ctr">
                    <a:solidFill>
                      <a:srgbClr val="0B101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A0ADBF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marL="73152" marR="73152" marT="36576" marB="36576" anchor="ctr">
                    <a:solidFill>
                      <a:srgbClr val="0B101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A0ADBF"/>
                          </a:solidFill>
                          <a:latin typeface="Segoe UI"/>
                        </a:rPr>
                        <a:t>Random Forest</a:t>
                      </a:r>
                    </a:p>
                  </a:txBody>
                  <a:tcPr marL="73152" marR="73152" marT="36576" marB="36576" anchor="ctr">
                    <a:solidFill>
                      <a:srgbClr val="141A2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A0ADBF"/>
                          </a:solidFill>
                          <a:latin typeface="Segoe UI"/>
                        </a:rPr>
                        <a:t>0.5515</a:t>
                      </a:r>
                    </a:p>
                  </a:txBody>
                  <a:tcPr marL="73152" marR="73152" marT="36576" marB="36576" anchor="ctr">
                    <a:solidFill>
                      <a:srgbClr val="141A2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A0ADBF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marL="73152" marR="73152" marT="36576" marB="36576" anchor="ctr">
                    <a:solidFill>
                      <a:srgbClr val="141A2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A0ADBF"/>
                          </a:solidFill>
                          <a:latin typeface="Segoe UI"/>
                        </a:rPr>
                        <a:t>ViSoBERT (zero-shot DL)</a:t>
                      </a:r>
                    </a:p>
                  </a:txBody>
                  <a:tcPr marL="73152" marR="73152" marT="36576" marB="36576" anchor="ctr">
                    <a:solidFill>
                      <a:srgbClr val="0B101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A0ADBF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marL="73152" marR="73152" marT="36576" marB="36576" anchor="ctr">
                    <a:solidFill>
                      <a:srgbClr val="0B101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A0ADBF"/>
                          </a:solidFill>
                          <a:latin typeface="Segoe UI"/>
                        </a:rPr>
                        <a:t>0.4036</a:t>
                      </a:r>
                    </a:p>
                  </a:txBody>
                  <a:tcPr marL="73152" marR="73152" marT="36576" marB="36576" anchor="ctr">
                    <a:solidFill>
                      <a:srgbClr val="0B101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A0ADBF"/>
                          </a:solidFill>
                          <a:latin typeface="Segoe UI"/>
                        </a:rPr>
                        <a:t>Multinomial Naive Bayes</a:t>
                      </a:r>
                    </a:p>
                  </a:txBody>
                  <a:tcPr marL="73152" marR="73152" marT="36576" marB="36576" anchor="ctr">
                    <a:solidFill>
                      <a:srgbClr val="141A2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A0ADBF"/>
                          </a:solidFill>
                          <a:latin typeface="Segoe UI"/>
                        </a:rPr>
                        <a:t>0.4890</a:t>
                      </a:r>
                    </a:p>
                  </a:txBody>
                  <a:tcPr marL="73152" marR="73152" marT="36576" marB="36576" anchor="ctr">
                    <a:solidFill>
                      <a:srgbClr val="141A2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A0ADBF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marL="73152" marR="73152" marT="36576" marB="36576" anchor="ctr">
                    <a:solidFill>
                      <a:srgbClr val="141A24"/>
                    </a:solidFill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502920" y="4507992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6B7688"/>
                </a:solidFill>
                <a:latin typeface="Segoe UI"/>
              </a:rPr>
              <a:t>Final Test chỉ được mở khoá 1 lần cho mô hình đã chọn (Stacking) và benchmark ViSoBERT — tránh rò rỉ dữ liệu.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4892040"/>
            <a:ext cx="5943600" cy="914400"/>
          </a:xfrm>
          <a:prstGeom prst="rect">
            <a:avLst/>
          </a:prstGeom>
          <a:solidFill>
            <a:srgbClr val="11161F"/>
          </a:solidFill>
          <a:ln w="12700">
            <a:solidFill>
              <a:srgbClr val="FF99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5001768"/>
            <a:ext cx="5577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F994F"/>
                </a:solidFill>
                <a:latin typeface="Segoe UI"/>
              </a:rPr>
              <a:t>⚠ BẪY ACCURACY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5276088"/>
            <a:ext cx="5577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A0ADBF"/>
                </a:solidFill>
                <a:latin typeface="Segoe UI"/>
              </a:rPr>
              <a:t>Accuracy 77.66% có vẻ cao, nhưng Macro F1 chỉ 0.5475 — do mô hình nghiêng mạnh về lớp Positive đa số (1.241/1.683 mẫu).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675120" y="1508760"/>
            <a:ext cx="5029200" cy="434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242C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best_model_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1892" y="1636776"/>
            <a:ext cx="4575657" cy="3813048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803136" y="5449824"/>
            <a:ext cx="4773168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0">
                <a:solidFill>
                  <a:srgbClr val="333A44"/>
                </a:solidFill>
                <a:latin typeface="Segoe UI"/>
              </a:rPr>
              <a:t>Confusion Matrix — Stacking Classifier trên Final Test (1.683 mẫu)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B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7AA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14455" y="256032"/>
            <a:ext cx="365760" cy="365760"/>
          </a:xfrm>
          <a:prstGeom prst="rect">
            <a:avLst/>
          </a:prstGeom>
          <a:solidFill>
            <a:srgbClr val="141A24"/>
          </a:solidFill>
          <a:ln w="12700">
            <a:solidFill>
              <a:srgbClr val="2A33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1494922" y="336499"/>
            <a:ext cx="204825" cy="146304"/>
          </a:xfrm>
          <a:prstGeom prst="roundRect">
            <a:avLst>
              <a:gd name="adj" fmla="val 45000"/>
            </a:avLst>
          </a:prstGeom>
          <a:noFill/>
          <a:ln w="13970">
            <a:solidFill>
              <a:srgbClr val="7AA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38813" y="395020"/>
            <a:ext cx="27432" cy="27432"/>
          </a:xfrm>
          <a:prstGeom prst="ellipse">
            <a:avLst/>
          </a:prstGeom>
          <a:solidFill>
            <a:srgbClr val="50E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597334" y="395020"/>
            <a:ext cx="27432" cy="27432"/>
          </a:xfrm>
          <a:prstGeom prst="ellipse">
            <a:avLst/>
          </a:prstGeom>
          <a:solidFill>
            <a:srgbClr val="7AA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655855" y="395020"/>
            <a:ext cx="27432" cy="27432"/>
          </a:xfrm>
          <a:prstGeom prst="ellipse">
            <a:avLst/>
          </a:prstGeom>
          <a:solidFill>
            <a:srgbClr val="F4D3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384048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7AA7FF"/>
                </a:solidFill>
                <a:latin typeface="Segoe UI"/>
              </a:rPr>
              <a:t>CHƯƠNG 4 · PHÂN TÍCH LỖI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8368"/>
            <a:ext cx="10607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F1F5F9"/>
                </a:solidFill>
                <a:latin typeface="Segoe UI"/>
              </a:rPr>
              <a:t>Phân tích lỗi sai định tính &amp; Hybrid Decision Gate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298448"/>
            <a:ext cx="502920" cy="40640"/>
          </a:xfrm>
          <a:prstGeom prst="rect">
            <a:avLst/>
          </a:prstGeom>
          <a:solidFill>
            <a:srgbClr val="50E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688"/>
                </a:solidFill>
                <a:latin typeface="Segoe UI"/>
              </a:rPr>
              <a:t>Phân tích Cảm xúc Đánh giá ITviec  ·  Nhóm 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11535" y="6473952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6B7688"/>
                </a:solidFill>
                <a:latin typeface="Segoe UI"/>
              </a:rPr>
              <a:t>09 / 15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1508760"/>
            <a:ext cx="5486400" cy="4343400"/>
          </a:xfrm>
          <a:prstGeom prst="rect">
            <a:avLst/>
          </a:prstGeom>
          <a:solidFill>
            <a:srgbClr val="141A24"/>
          </a:solidFill>
          <a:ln w="12700">
            <a:solidFill>
              <a:srgbClr val="242C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1508760"/>
            <a:ext cx="5486400" cy="45720"/>
          </a:xfrm>
          <a:prstGeom prst="rect">
            <a:avLst/>
          </a:prstGeom>
          <a:solidFill>
            <a:srgbClr val="FF6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1655064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F1F5F9"/>
                </a:solidFill>
                <a:latin typeface="Segoe UI"/>
              </a:rPr>
              <a:t>Case study: câu phủ định phức tạp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04088" y="2075688"/>
            <a:ext cx="5074920" cy="1051560"/>
          </a:xfrm>
          <a:prstGeom prst="rect">
            <a:avLst/>
          </a:prstGeom>
          <a:solidFill>
            <a:srgbClr val="11161F"/>
          </a:solidFill>
          <a:ln w="12700">
            <a:solidFill>
              <a:srgbClr val="242C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6968" y="2203704"/>
            <a:ext cx="4709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F1F5F9"/>
                </a:solidFill>
                <a:latin typeface="Segoe UI"/>
              </a:rPr>
              <a:t>“Môi trường làm việc không được thân thiện, đồng nghiệp không hỗ trợ và ít cơ hội học hỏi.”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04088" y="3310128"/>
            <a:ext cx="73152" cy="502920"/>
          </a:xfrm>
          <a:prstGeom prst="rect">
            <a:avLst/>
          </a:prstGeom>
          <a:solidFill>
            <a:srgbClr val="FF6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6968" y="3310128"/>
            <a:ext cx="47548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1F5F9"/>
                </a:solidFill>
                <a:latin typeface="Segoe UI"/>
              </a:rPr>
              <a:t>Không có Hybrid Gate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" y="3575304"/>
            <a:ext cx="47548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A0ADBF"/>
                </a:solidFill>
                <a:latin typeface="Segoe UI"/>
              </a:rPr>
              <a:t>Dự đoán sai → Trung tính / Tích cực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04088" y="3950208"/>
            <a:ext cx="73152" cy="502920"/>
          </a:xfrm>
          <a:prstGeom prst="rect">
            <a:avLst/>
          </a:prstGeom>
          <a:solidFill>
            <a:srgbClr val="50E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6968" y="3950208"/>
            <a:ext cx="47548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1F5F9"/>
                </a:solidFill>
                <a:latin typeface="Segoe UI"/>
              </a:rPr>
              <a:t>Có Hybrid Decision Gate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6968" y="4215384"/>
            <a:ext cx="47548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A0ADBF"/>
                </a:solidFill>
                <a:latin typeface="Segoe UI"/>
              </a:rPr>
              <a:t>Tiêu cực (71.1%) — phát hiện 3 cụm phủ định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" y="4681728"/>
            <a:ext cx="5120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80" b="0">
                <a:solidFill>
                  <a:srgbClr val="A0ADBF"/>
                </a:solidFill>
                <a:latin typeface="Segoe UI"/>
              </a:rPr>
              <a:t>Các lỗi khác thường gặp: câu châm biếm, khen/chê đan xen trong cùng review, đánh giá Trung tính mập mờ giữa 2 cực.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0" y="1508760"/>
            <a:ext cx="5257800" cy="4343400"/>
          </a:xfrm>
          <a:prstGeom prst="rect">
            <a:avLst/>
          </a:prstGeom>
          <a:solidFill>
            <a:srgbClr val="141A24"/>
          </a:solidFill>
          <a:ln w="12700">
            <a:solidFill>
              <a:srgbClr val="242C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400800" y="1508760"/>
            <a:ext cx="5257800" cy="45720"/>
          </a:xfrm>
          <a:prstGeom prst="rect">
            <a:avLst/>
          </a:prstGeom>
          <a:solidFill>
            <a:srgbClr val="50E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0" y="1655064"/>
            <a:ext cx="4892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F1F5F9"/>
                </a:solidFill>
                <a:latin typeface="Segoe UI"/>
              </a:rPr>
              <a:t>Cơ chế Hybrid Decision Gate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601968" y="2057400"/>
            <a:ext cx="484632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242C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negative_threshold_sensitiv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0992" y="2185416"/>
            <a:ext cx="2948272" cy="1801368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6729984" y="3986784"/>
            <a:ext cx="4590288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0">
                <a:solidFill>
                  <a:srgbClr val="333A44"/>
                </a:solidFill>
                <a:latin typeface="Segoe UI"/>
              </a:rPr>
              <a:t>Độ nhạy ngưỡng xác suất P(Negative) trên Recall/Precision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01968" y="4572000"/>
            <a:ext cx="48463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A0ADBF"/>
                </a:solidFill>
                <a:latin typeface="Segoe UI"/>
              </a:rPr>
              <a:t>Nếu P(Tiêu cực) ≥ 0.30 theo mô hình ML → ưu tiên gán nhãn Tiêu cực, kết hợp tri thức từ điển miền IT (negation, từ khoá nhạy cảm) để hiệu chỉnh các trường hợp mô hình còn lưỡng lự.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601968" y="5440680"/>
            <a:ext cx="2331720" cy="685800"/>
          </a:xfrm>
          <a:prstGeom prst="rect">
            <a:avLst/>
          </a:prstGeom>
          <a:solidFill>
            <a:srgbClr val="141A24"/>
          </a:solidFill>
          <a:ln w="12700">
            <a:solidFill>
              <a:srgbClr val="242C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739128" y="5513832"/>
            <a:ext cx="2057400" cy="31750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50E3A4"/>
                </a:solidFill>
                <a:latin typeface="Segoe UI"/>
              </a:rPr>
              <a:t>26.3%→35.1%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39128" y="5867908"/>
            <a:ext cx="2057400" cy="2037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A0ADBF"/>
                </a:solidFill>
                <a:latin typeface="Segoe UI"/>
              </a:rPr>
              <a:t>Recall Negative khi áp ngưỡng 0.30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098280" y="5440680"/>
            <a:ext cx="2331720" cy="685800"/>
          </a:xfrm>
          <a:prstGeom prst="rect">
            <a:avLst/>
          </a:prstGeom>
          <a:solidFill>
            <a:srgbClr val="141A24"/>
          </a:solidFill>
          <a:ln w="12700">
            <a:solidFill>
              <a:srgbClr val="242C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235440" y="5513832"/>
            <a:ext cx="2057400" cy="31750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7AA7FF"/>
                </a:solidFill>
                <a:latin typeface="Segoe UI"/>
              </a:rPr>
              <a:t>+0.0032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35440" y="5867908"/>
            <a:ext cx="2057400" cy="2037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A0ADBF"/>
                </a:solidFill>
                <a:latin typeface="Segoe UI"/>
              </a:rPr>
              <a:t>Macro F1 cải thiện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B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7AA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14455" y="256032"/>
            <a:ext cx="365760" cy="365760"/>
          </a:xfrm>
          <a:prstGeom prst="rect">
            <a:avLst/>
          </a:prstGeom>
          <a:solidFill>
            <a:srgbClr val="141A24"/>
          </a:solidFill>
          <a:ln w="12700">
            <a:solidFill>
              <a:srgbClr val="2A33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1494922" y="336499"/>
            <a:ext cx="204825" cy="146304"/>
          </a:xfrm>
          <a:prstGeom prst="roundRect">
            <a:avLst>
              <a:gd name="adj" fmla="val 45000"/>
            </a:avLst>
          </a:prstGeom>
          <a:noFill/>
          <a:ln w="13970">
            <a:solidFill>
              <a:srgbClr val="7AA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38813" y="395020"/>
            <a:ext cx="27432" cy="27432"/>
          </a:xfrm>
          <a:prstGeom prst="ellipse">
            <a:avLst/>
          </a:prstGeom>
          <a:solidFill>
            <a:srgbClr val="50E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597334" y="395020"/>
            <a:ext cx="27432" cy="27432"/>
          </a:xfrm>
          <a:prstGeom prst="ellipse">
            <a:avLst/>
          </a:prstGeom>
          <a:solidFill>
            <a:srgbClr val="7AA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655855" y="395020"/>
            <a:ext cx="27432" cy="27432"/>
          </a:xfrm>
          <a:prstGeom prst="ellipse">
            <a:avLst/>
          </a:prstGeom>
          <a:solidFill>
            <a:srgbClr val="F4D3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384048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7AA7FF"/>
                </a:solidFill>
                <a:latin typeface="Segoe UI"/>
              </a:rPr>
              <a:t>CHƯƠNG 5 · INSIGHT DOANH NGHIỆP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8368"/>
            <a:ext cx="10607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F1F5F9"/>
                </a:solidFill>
                <a:latin typeface="Segoe UI"/>
              </a:rPr>
              <a:t>Khám phá Insight cảm xúc ngành Công nghệ Thông tin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298448"/>
            <a:ext cx="502920" cy="40640"/>
          </a:xfrm>
          <a:prstGeom prst="rect">
            <a:avLst/>
          </a:prstGeom>
          <a:solidFill>
            <a:srgbClr val="50E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688"/>
                </a:solidFill>
                <a:latin typeface="Segoe UI"/>
              </a:rPr>
              <a:t>Phân tích Cảm xúc Đánh giá ITviec  ·  Nhóm 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11535" y="6473952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6B7688"/>
                </a:solidFill>
                <a:latin typeface="Segoe UI"/>
              </a:rPr>
              <a:t>10 / 15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1508760"/>
            <a:ext cx="274320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242C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wordcloud_positive_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" y="1778508"/>
            <a:ext cx="2487168" cy="124358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30936" y="3163824"/>
            <a:ext cx="2487168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0">
                <a:solidFill>
                  <a:srgbClr val="333A44"/>
                </a:solidFill>
                <a:latin typeface="Segoe UI"/>
              </a:rPr>
              <a:t>WordCloud — Tích cực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3703320"/>
            <a:ext cx="274320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242C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wordcloud_negative_a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" y="3973068"/>
            <a:ext cx="2487168" cy="1243584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30936" y="5358384"/>
            <a:ext cx="2487168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0">
                <a:solidFill>
                  <a:srgbClr val="333A44"/>
                </a:solidFill>
                <a:latin typeface="Segoe UI"/>
              </a:rPr>
              <a:t>WordCloud — Tiêu cực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429000" y="1508760"/>
            <a:ext cx="416052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242C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company_fpt_software_sentiment_distribu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36424" y="1636776"/>
            <a:ext cx="2745671" cy="152704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3557016" y="3163824"/>
            <a:ext cx="3904488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0">
                <a:solidFill>
                  <a:srgbClr val="333A44"/>
                </a:solidFill>
                <a:latin typeface="Segoe UI"/>
              </a:rPr>
              <a:t>Phân bố cảm xúc — FPT Software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429000" y="3703320"/>
            <a:ext cx="416052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242C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company_nashtech_sentiment_distributi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36424" y="3831336"/>
            <a:ext cx="2745671" cy="1527048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3557016" y="5358384"/>
            <a:ext cx="3904488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0">
                <a:solidFill>
                  <a:srgbClr val="333A44"/>
                </a:solidFill>
                <a:latin typeface="Segoe UI"/>
              </a:rPr>
              <a:t>Phân bố cảm xúc — NashTech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72400" y="1508760"/>
            <a:ext cx="3977639" cy="4343400"/>
          </a:xfrm>
          <a:prstGeom prst="rect">
            <a:avLst/>
          </a:prstGeom>
          <a:solidFill>
            <a:srgbClr val="141A24"/>
          </a:solidFill>
          <a:ln w="12700">
            <a:solidFill>
              <a:srgbClr val="242C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772400" y="1508760"/>
            <a:ext cx="3977639" cy="45720"/>
          </a:xfrm>
          <a:prstGeom prst="rect">
            <a:avLst/>
          </a:prstGeom>
          <a:solidFill>
            <a:srgbClr val="F4D3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55280" y="1655064"/>
            <a:ext cx="361187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F1F5F9"/>
                </a:solidFill>
                <a:latin typeface="Segoe UI"/>
              </a:rPr>
              <a:t>Chủ đề nổi bật theo sắc thái</a:t>
            </a:r>
          </a:p>
        </p:txBody>
      </p:sp>
      <p:sp>
        <p:nvSpPr>
          <p:cNvPr id="29" name="Oval 28"/>
          <p:cNvSpPr/>
          <p:nvPr/>
        </p:nvSpPr>
        <p:spPr>
          <a:xfrm>
            <a:off x="7991856" y="2157984"/>
            <a:ext cx="82296" cy="82296"/>
          </a:xfrm>
          <a:prstGeom prst="ellipse">
            <a:avLst/>
          </a:prstGeom>
          <a:solidFill>
            <a:srgbClr val="50E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174736" y="2103120"/>
            <a:ext cx="342900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F1F5F9"/>
                </a:solidFill>
                <a:latin typeface="Segoe UI"/>
              </a:rPr>
              <a:t>Được khen nhiều nhất: </a:t>
            </a:r>
            <a:r>
              <a:rPr sz="1200" b="0">
                <a:solidFill>
                  <a:srgbClr val="A0ADBF"/>
                </a:solidFill>
                <a:latin typeface="Segoe UI"/>
              </a:rPr>
              <a:t>môi trường trẻ, đồng nghiệp thân thiện, công nghệ mới, lộ trình rõ ràng.</a:t>
            </a:r>
          </a:p>
        </p:txBody>
      </p:sp>
      <p:sp>
        <p:nvSpPr>
          <p:cNvPr id="31" name="Oval 30"/>
          <p:cNvSpPr/>
          <p:nvPr/>
        </p:nvSpPr>
        <p:spPr>
          <a:xfrm>
            <a:off x="7991856" y="3209544"/>
            <a:ext cx="82296" cy="82296"/>
          </a:xfrm>
          <a:prstGeom prst="ellipse">
            <a:avLst/>
          </a:prstGeom>
          <a:solidFill>
            <a:srgbClr val="FF6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174736" y="3154680"/>
            <a:ext cx="342900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F1F5F9"/>
                </a:solidFill>
                <a:latin typeface="Segoe UI"/>
              </a:rPr>
              <a:t>Bị phàn nàn nhiều nhất: </a:t>
            </a:r>
            <a:r>
              <a:rPr sz="1200" b="0">
                <a:solidFill>
                  <a:srgbClr val="A0ADBF"/>
                </a:solidFill>
                <a:latin typeface="Segoe UI"/>
              </a:rPr>
              <a:t>chế độ OT, tốc độ tăng lương, quy trình quản lý cứng nhắc.</a:t>
            </a:r>
          </a:p>
        </p:txBody>
      </p:sp>
      <p:sp>
        <p:nvSpPr>
          <p:cNvPr id="33" name="Oval 32"/>
          <p:cNvSpPr/>
          <p:nvPr/>
        </p:nvSpPr>
        <p:spPr>
          <a:xfrm>
            <a:off x="7991856" y="4261104"/>
            <a:ext cx="82296" cy="82296"/>
          </a:xfrm>
          <a:prstGeom prst="ellipse">
            <a:avLst/>
          </a:prstGeom>
          <a:solidFill>
            <a:srgbClr val="7AA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174736" y="4206240"/>
            <a:ext cx="342900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F1F5F9"/>
                </a:solidFill>
                <a:latin typeface="Segoe UI"/>
              </a:rPr>
              <a:t>So sánh giữa doanh nghiệp: </a:t>
            </a:r>
            <a:r>
              <a:rPr sz="1200" b="0">
                <a:solidFill>
                  <a:srgbClr val="A0ADBF"/>
                </a:solidFill>
                <a:latin typeface="Segoe UI"/>
              </a:rPr>
              <a:t>FPT Software và NashTech có tỷ lệ hài lòng khác biệt rõ theo từng khía cạnh.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B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7AA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14455" y="256032"/>
            <a:ext cx="365760" cy="365760"/>
          </a:xfrm>
          <a:prstGeom prst="rect">
            <a:avLst/>
          </a:prstGeom>
          <a:solidFill>
            <a:srgbClr val="141A24"/>
          </a:solidFill>
          <a:ln w="12700">
            <a:solidFill>
              <a:srgbClr val="2A33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1494922" y="336499"/>
            <a:ext cx="204825" cy="146304"/>
          </a:xfrm>
          <a:prstGeom prst="roundRect">
            <a:avLst>
              <a:gd name="adj" fmla="val 45000"/>
            </a:avLst>
          </a:prstGeom>
          <a:noFill/>
          <a:ln w="13970">
            <a:solidFill>
              <a:srgbClr val="7AA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38813" y="395020"/>
            <a:ext cx="27432" cy="27432"/>
          </a:xfrm>
          <a:prstGeom prst="ellipse">
            <a:avLst/>
          </a:prstGeom>
          <a:solidFill>
            <a:srgbClr val="50E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597334" y="395020"/>
            <a:ext cx="27432" cy="27432"/>
          </a:xfrm>
          <a:prstGeom prst="ellipse">
            <a:avLst/>
          </a:prstGeom>
          <a:solidFill>
            <a:srgbClr val="7AA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655855" y="395020"/>
            <a:ext cx="27432" cy="27432"/>
          </a:xfrm>
          <a:prstGeom prst="ellipse">
            <a:avLst/>
          </a:prstGeom>
          <a:solidFill>
            <a:srgbClr val="F4D3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384048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7AA7FF"/>
                </a:solidFill>
                <a:latin typeface="Segoe UI"/>
              </a:rPr>
              <a:t>CHƯƠNG 5 · TRIỂN KHAI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8368"/>
            <a:ext cx="10607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F1F5F9"/>
                </a:solidFill>
                <a:latin typeface="Segoe UI"/>
              </a:rPr>
              <a:t>Ứng dụng Web Demo — Streamlit Dashboard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298448"/>
            <a:ext cx="502920" cy="40640"/>
          </a:xfrm>
          <a:prstGeom prst="rect">
            <a:avLst/>
          </a:prstGeom>
          <a:solidFill>
            <a:srgbClr val="50E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688"/>
                </a:solidFill>
                <a:latin typeface="Segoe UI"/>
              </a:rPr>
              <a:t>Phân tích Cảm xúc Đánh giá ITviec  ·  Nhóm 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11535" y="6473952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6B7688"/>
                </a:solidFill>
                <a:latin typeface="Segoe UI"/>
              </a:rPr>
              <a:t>11 / 15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1508760"/>
            <a:ext cx="6949440" cy="4343400"/>
          </a:xfrm>
          <a:prstGeom prst="rect">
            <a:avLst/>
          </a:prstGeom>
          <a:solidFill>
            <a:srgbClr val="0C1119"/>
          </a:solidFill>
          <a:ln w="12700">
            <a:solidFill>
              <a:srgbClr val="242C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1618488"/>
            <a:ext cx="164592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1728216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6B7688"/>
                </a:solidFill>
                <a:latin typeface="Segoe UI"/>
              </a:rPr>
              <a:t>Tổng quan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86000" y="1618488"/>
            <a:ext cx="164592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240280" y="1728216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6B7688"/>
                </a:solidFill>
                <a:latin typeface="Segoe UI"/>
              </a:rPr>
              <a:t>Insight doanh nghiệp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023360" y="1618488"/>
            <a:ext cx="1645920" cy="457200"/>
          </a:xfrm>
          <a:prstGeom prst="rect">
            <a:avLst/>
          </a:prstGeom>
          <a:solidFill>
            <a:srgbClr val="111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023360" y="2020824"/>
            <a:ext cx="1645920" cy="27940"/>
          </a:xfrm>
          <a:prstGeom prst="rect">
            <a:avLst/>
          </a:prstGeom>
          <a:solidFill>
            <a:srgbClr val="F4D3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977640" y="1728216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1F5F9"/>
                </a:solidFill>
                <a:latin typeface="Segoe UI"/>
              </a:rPr>
              <a:t>Phân tích review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760720" y="1618488"/>
            <a:ext cx="164592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715000" y="1728216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6B7688"/>
                </a:solidFill>
                <a:latin typeface="Segoe UI"/>
              </a:rPr>
              <a:t>Mô hình &amp; đánh giá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7240" y="2286000"/>
            <a:ext cx="6400800" cy="868680"/>
          </a:xfrm>
          <a:prstGeom prst="rect">
            <a:avLst/>
          </a:prstGeom>
          <a:solidFill>
            <a:srgbClr val="141A24"/>
          </a:solidFill>
          <a:ln w="12700">
            <a:solidFill>
              <a:srgbClr val="242C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0120" y="2377440"/>
            <a:ext cx="60350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6B7688"/>
                </a:solidFill>
                <a:latin typeface="Segoe UI"/>
              </a:rPr>
              <a:t>NHẬP REVIEW CẦN PHÂN TÍCH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" y="2633472"/>
            <a:ext cx="6035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A0ADBF"/>
                </a:solidFill>
                <a:latin typeface="Segoe UI"/>
              </a:rPr>
              <a:t>“Môi trường làm việc không được thân thiện, đồng nghiệp không hỗ trợ...”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3337560"/>
            <a:ext cx="6400800" cy="1051560"/>
          </a:xfrm>
          <a:prstGeom prst="rect">
            <a:avLst/>
          </a:prstGeom>
          <a:solidFill>
            <a:srgbClr val="11161F"/>
          </a:solidFill>
          <a:ln w="12700">
            <a:solidFill>
              <a:srgbClr val="FF66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0120" y="3447288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6B7688"/>
                </a:solidFill>
                <a:latin typeface="Segoe UI"/>
              </a:rPr>
              <a:t>KẾT QUẢ DỰ ĐOÁN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" y="3721608"/>
            <a:ext cx="2743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FF6677"/>
                </a:solidFill>
                <a:latin typeface="Segoe UI"/>
              </a:rPr>
              <a:t>TIÊU CỰC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74920" y="3447288"/>
            <a:ext cx="1920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3000" b="1">
                <a:solidFill>
                  <a:srgbClr val="F1F5F9"/>
                </a:solidFill>
                <a:latin typeface="Segoe UI"/>
              </a:rPr>
              <a:t>71.1%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74920" y="4087368"/>
            <a:ext cx="19202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6B7688"/>
                </a:solidFill>
                <a:latin typeface="Segoe UI"/>
              </a:rPr>
              <a:t>độ tin cậy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77240" y="4526280"/>
            <a:ext cx="6400800" cy="502920"/>
          </a:xfrm>
          <a:prstGeom prst="rect">
            <a:avLst/>
          </a:prstGeom>
          <a:solidFill>
            <a:srgbClr val="141A24"/>
          </a:solidFill>
          <a:ln w="12700">
            <a:solidFill>
              <a:srgbClr val="242C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22960" y="4581144"/>
            <a:ext cx="3154680" cy="393192"/>
          </a:xfrm>
          <a:prstGeom prst="rect">
            <a:avLst/>
          </a:prstGeom>
          <a:solidFill>
            <a:srgbClr val="111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2960" y="4645152"/>
            <a:ext cx="3154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6B7688"/>
                </a:solidFill>
                <a:latin typeface="Segoe UI"/>
              </a:rPr>
              <a:t>Text-only · 5.000 chiều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977640" y="4581144"/>
            <a:ext cx="3154680" cy="393192"/>
          </a:xfrm>
          <a:prstGeom prst="rect">
            <a:avLst/>
          </a:prstGeom>
          <a:solidFill>
            <a:srgbClr val="527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977640" y="4645152"/>
            <a:ext cx="3154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Segoe UI"/>
              </a:rPr>
              <a:t>Text + Lexicon · 5.005 chiều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680960" y="1508760"/>
            <a:ext cx="4114800" cy="4343400"/>
          </a:xfrm>
          <a:prstGeom prst="rect">
            <a:avLst/>
          </a:prstGeom>
          <a:solidFill>
            <a:srgbClr val="141A24"/>
          </a:solidFill>
          <a:ln w="12700">
            <a:solidFill>
              <a:srgbClr val="242C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680960" y="1508760"/>
            <a:ext cx="4114800" cy="45720"/>
          </a:xfrm>
          <a:prstGeom prst="rect">
            <a:avLst/>
          </a:prstGeom>
          <a:solidFill>
            <a:srgbClr val="7AA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863840" y="1655064"/>
            <a:ext cx="3749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F1F5F9"/>
                </a:solidFill>
                <a:latin typeface="Segoe UI"/>
              </a:rPr>
              <a:t>4 trang chức năng trên ứng dụng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882128" y="2075688"/>
            <a:ext cx="73152" cy="777240"/>
          </a:xfrm>
          <a:prstGeom prst="rect">
            <a:avLst/>
          </a:prstGeom>
          <a:solidFill>
            <a:srgbClr val="7AA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065008" y="2075688"/>
            <a:ext cx="33832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1F5F9"/>
                </a:solidFill>
                <a:latin typeface="Segoe UI"/>
              </a:rPr>
              <a:t>Tổng quan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065008" y="2350008"/>
            <a:ext cx="3383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30" b="0">
                <a:solidFill>
                  <a:srgbClr val="A0ADBF"/>
                </a:solidFill>
                <a:latin typeface="Segoe UI"/>
              </a:rPr>
              <a:t>Giới thiệu pipeline, KPI dữ liệu &amp; phân bố cảm xúc toàn hệ thống.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882128" y="2990088"/>
            <a:ext cx="73152" cy="777240"/>
          </a:xfrm>
          <a:prstGeom prst="rect">
            <a:avLst/>
          </a:prstGeom>
          <a:solidFill>
            <a:srgbClr val="50E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065008" y="2990088"/>
            <a:ext cx="33832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1F5F9"/>
                </a:solidFill>
                <a:latin typeface="Segoe UI"/>
              </a:rPr>
              <a:t>Insight doanh nghiệp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065008" y="3264408"/>
            <a:ext cx="3383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30" b="0">
                <a:solidFill>
                  <a:srgbClr val="A0ADBF"/>
                </a:solidFill>
                <a:latin typeface="Segoe UI"/>
              </a:rPr>
              <a:t>WordCloud &amp; thống kê cảm xúc theo từng công ty IT.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882128" y="3904488"/>
            <a:ext cx="73152" cy="777240"/>
          </a:xfrm>
          <a:prstGeom prst="rect">
            <a:avLst/>
          </a:prstGeom>
          <a:solidFill>
            <a:srgbClr val="F4D3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065008" y="3904488"/>
            <a:ext cx="33832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1F5F9"/>
                </a:solidFill>
                <a:latin typeface="Segoe UI"/>
              </a:rPr>
              <a:t>Phân tích review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065008" y="4178808"/>
            <a:ext cx="3383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30" b="0">
                <a:solidFill>
                  <a:srgbClr val="A0ADBF"/>
                </a:solidFill>
                <a:latin typeface="Segoe UI"/>
              </a:rPr>
              <a:t>Nhập review, chọn mô hình, xem kết quả kèm giải thích XAI &amp; hiệu chỉnh.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882128" y="4818888"/>
            <a:ext cx="73152" cy="777240"/>
          </a:xfrm>
          <a:prstGeom prst="rect">
            <a:avLst/>
          </a:prstGeom>
          <a:solidFill>
            <a:srgbClr val="FF9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065008" y="4818888"/>
            <a:ext cx="33832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1F5F9"/>
                </a:solidFill>
                <a:latin typeface="Segoe UI"/>
              </a:rPr>
              <a:t>Mô hình &amp; đánh giá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065008" y="5093208"/>
            <a:ext cx="3383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30" b="0">
                <a:solidFill>
                  <a:srgbClr val="A0ADBF"/>
                </a:solidFill>
                <a:latin typeface="Segoe UI"/>
              </a:rPr>
              <a:t>Leaderboard 5 mô hình, ma trận nhầm lẫn &amp; phân tích độ nhạy ngưỡng 30%.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B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7AA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14455" y="256032"/>
            <a:ext cx="365760" cy="365760"/>
          </a:xfrm>
          <a:prstGeom prst="rect">
            <a:avLst/>
          </a:prstGeom>
          <a:solidFill>
            <a:srgbClr val="141A24"/>
          </a:solidFill>
          <a:ln w="12700">
            <a:solidFill>
              <a:srgbClr val="2A33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1494922" y="336499"/>
            <a:ext cx="204825" cy="146304"/>
          </a:xfrm>
          <a:prstGeom prst="roundRect">
            <a:avLst>
              <a:gd name="adj" fmla="val 45000"/>
            </a:avLst>
          </a:prstGeom>
          <a:noFill/>
          <a:ln w="13970">
            <a:solidFill>
              <a:srgbClr val="7AA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38813" y="395020"/>
            <a:ext cx="27432" cy="27432"/>
          </a:xfrm>
          <a:prstGeom prst="ellipse">
            <a:avLst/>
          </a:prstGeom>
          <a:solidFill>
            <a:srgbClr val="50E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597334" y="395020"/>
            <a:ext cx="27432" cy="27432"/>
          </a:xfrm>
          <a:prstGeom prst="ellipse">
            <a:avLst/>
          </a:prstGeom>
          <a:solidFill>
            <a:srgbClr val="7AA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655855" y="395020"/>
            <a:ext cx="27432" cy="27432"/>
          </a:xfrm>
          <a:prstGeom prst="ellipse">
            <a:avLst/>
          </a:prstGeom>
          <a:solidFill>
            <a:srgbClr val="F4D3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384048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7AA7FF"/>
                </a:solidFill>
                <a:latin typeface="Segoe UI"/>
              </a:rPr>
              <a:t>CHƯƠNG 5 · EXPLAINABLE 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8368"/>
            <a:ext cx="10607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F1F5F9"/>
                </a:solidFill>
                <a:latin typeface="Segoe UI"/>
              </a:rPr>
              <a:t>Kiến trúc XAI thời gian thực — Giải thích quyết định mô hình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298448"/>
            <a:ext cx="502920" cy="40640"/>
          </a:xfrm>
          <a:prstGeom prst="rect">
            <a:avLst/>
          </a:prstGeom>
          <a:solidFill>
            <a:srgbClr val="50E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688"/>
                </a:solidFill>
                <a:latin typeface="Segoe UI"/>
              </a:rPr>
              <a:t>Phân tích Cảm xúc Đánh giá ITviec  ·  Nhóm 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11535" y="6473952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6B7688"/>
                </a:solidFill>
                <a:latin typeface="Segoe UI"/>
              </a:rPr>
              <a:t>12 / 15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1508760"/>
            <a:ext cx="5486400" cy="4343400"/>
          </a:xfrm>
          <a:prstGeom prst="rect">
            <a:avLst/>
          </a:prstGeom>
          <a:solidFill>
            <a:srgbClr val="141A24"/>
          </a:solidFill>
          <a:ln w="12700">
            <a:solidFill>
              <a:srgbClr val="242C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1508760"/>
            <a:ext cx="5486400" cy="45720"/>
          </a:xfrm>
          <a:prstGeom prst="rect">
            <a:avLst/>
          </a:prstGeom>
          <a:solidFill>
            <a:srgbClr val="50E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1655064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F1F5F9"/>
                </a:solidFill>
                <a:latin typeface="Segoe UI"/>
              </a:rPr>
              <a:t>Feature Importance — trọng số TF-IDF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" y="2103120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0">
                <a:solidFill>
                  <a:srgbClr val="F1F5F9"/>
                </a:solidFill>
                <a:latin typeface="Segoe UI"/>
              </a:rPr>
              <a:t>không hỗ trợ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58568" y="2121408"/>
            <a:ext cx="2103120" cy="219456"/>
          </a:xfrm>
          <a:prstGeom prst="rect">
            <a:avLst/>
          </a:prstGeom>
          <a:solidFill>
            <a:srgbClr val="FF6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93792" y="2084832"/>
            <a:ext cx="594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0ADBF"/>
                </a:solidFill>
                <a:latin typeface="Segoe UI"/>
              </a:rPr>
              <a:t>-0.82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088" y="2523744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0">
                <a:solidFill>
                  <a:srgbClr val="F1F5F9"/>
                </a:solidFill>
                <a:latin typeface="Segoe UI"/>
              </a:rPr>
              <a:t>không thân thiện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412455" y="2542032"/>
            <a:ext cx="1949233" cy="219456"/>
          </a:xfrm>
          <a:prstGeom prst="rect">
            <a:avLst/>
          </a:prstGeom>
          <a:solidFill>
            <a:srgbClr val="FF6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93792" y="2505456"/>
            <a:ext cx="594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0ADBF"/>
                </a:solidFill>
                <a:latin typeface="Segoe UI"/>
              </a:rPr>
              <a:t>-0.76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" y="2944368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0">
                <a:solidFill>
                  <a:srgbClr val="F1F5F9"/>
                </a:solidFill>
                <a:latin typeface="Segoe UI"/>
              </a:rPr>
              <a:t>ít cơ hội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874116" y="2962656"/>
            <a:ext cx="1487572" cy="219456"/>
          </a:xfrm>
          <a:prstGeom prst="rect">
            <a:avLst/>
          </a:prstGeom>
          <a:solidFill>
            <a:srgbClr val="FF6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193792" y="2926080"/>
            <a:ext cx="594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0ADBF"/>
                </a:solidFill>
                <a:latin typeface="Segoe UI"/>
              </a:rPr>
              <a:t>-0.58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4088" y="336499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0">
                <a:solidFill>
                  <a:srgbClr val="F1F5F9"/>
                </a:solidFill>
                <a:latin typeface="Segoe UI"/>
              </a:rPr>
              <a:t>học hỏi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61688" y="3383280"/>
            <a:ext cx="564251" cy="219456"/>
          </a:xfrm>
          <a:prstGeom prst="rect">
            <a:avLst/>
          </a:prstGeom>
          <a:solidFill>
            <a:srgbClr val="50E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193792" y="3346704"/>
            <a:ext cx="594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0ADBF"/>
                </a:solidFill>
                <a:latin typeface="Segoe UI"/>
              </a:rPr>
              <a:t>+0.22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4088" y="3785616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0">
                <a:solidFill>
                  <a:srgbClr val="F1F5F9"/>
                </a:solidFill>
                <a:latin typeface="Segoe UI"/>
              </a:rPr>
              <a:t>đồng nghiệp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361688" y="3803904"/>
            <a:ext cx="307773" cy="219456"/>
          </a:xfrm>
          <a:prstGeom prst="rect">
            <a:avLst/>
          </a:prstGeom>
          <a:solidFill>
            <a:srgbClr val="50E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193792" y="3767328"/>
            <a:ext cx="594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0ADBF"/>
                </a:solidFill>
                <a:latin typeface="Segoe UI"/>
              </a:rPr>
              <a:t>+0.12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61688" y="2103120"/>
            <a:ext cx="15240" cy="2103120"/>
          </a:xfrm>
          <a:prstGeom prst="rect">
            <a:avLst/>
          </a:prstGeom>
          <a:solidFill>
            <a:srgbClr val="242C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1520" y="4343400"/>
            <a:ext cx="5029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A0ADBF"/>
                </a:solidFill>
                <a:latin typeface="Segoe UI"/>
              </a:rPr>
              <a:t>Mỗi thanh thể hiện trọng số TF-IDF nổi bật của từ/cụm từ trong đầu vào — âm (đỏ) nghiêng về Tiêu cực, dương (xanh) nghiêng về Tích cực (chưa triển khai SHAP/LIME).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09360" y="1508760"/>
            <a:ext cx="5349240" cy="4343400"/>
          </a:xfrm>
          <a:prstGeom prst="rect">
            <a:avLst/>
          </a:prstGeom>
          <a:solidFill>
            <a:srgbClr val="141A24"/>
          </a:solidFill>
          <a:ln w="12700">
            <a:solidFill>
              <a:srgbClr val="242C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309360" y="1508760"/>
            <a:ext cx="5349240" cy="45720"/>
          </a:xfrm>
          <a:prstGeom prst="rect">
            <a:avLst/>
          </a:prstGeom>
          <a:solidFill>
            <a:srgbClr val="7AA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92240" y="1655064"/>
            <a:ext cx="4983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F1F5F9"/>
                </a:solidFill>
                <a:latin typeface="Segoe UI"/>
              </a:rPr>
              <a:t>Vì sao cần XAI trong bài toán này?</a:t>
            </a:r>
          </a:p>
        </p:txBody>
      </p:sp>
      <p:sp>
        <p:nvSpPr>
          <p:cNvPr id="37" name="Oval 36"/>
          <p:cNvSpPr/>
          <p:nvPr/>
        </p:nvSpPr>
        <p:spPr>
          <a:xfrm>
            <a:off x="6528816" y="2157984"/>
            <a:ext cx="82296" cy="82296"/>
          </a:xfrm>
          <a:prstGeom prst="ellipse">
            <a:avLst/>
          </a:prstGeom>
          <a:solidFill>
            <a:srgbClr val="7AA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711696" y="2103120"/>
            <a:ext cx="47548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F1F5F9"/>
                </a:solidFill>
                <a:latin typeface="Segoe UI"/>
              </a:rPr>
              <a:t>Minh bạch quyết định: </a:t>
            </a:r>
            <a:r>
              <a:rPr sz="1200" b="0">
                <a:solidFill>
                  <a:srgbClr val="A0ADBF"/>
                </a:solidFill>
                <a:latin typeface="Segoe UI"/>
              </a:rPr>
              <a:t>người dùng (ứng viên, HR) hiểu vì sao một review bị gán Tiêu cực/Tích cực.</a:t>
            </a:r>
          </a:p>
        </p:txBody>
      </p:sp>
      <p:sp>
        <p:nvSpPr>
          <p:cNvPr id="39" name="Oval 38"/>
          <p:cNvSpPr/>
          <p:nvPr/>
        </p:nvSpPr>
        <p:spPr>
          <a:xfrm>
            <a:off x="6528816" y="3054096"/>
            <a:ext cx="82296" cy="82296"/>
          </a:xfrm>
          <a:prstGeom prst="ellipse">
            <a:avLst/>
          </a:prstGeom>
          <a:solidFill>
            <a:srgbClr val="50E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711696" y="2999232"/>
            <a:ext cx="47548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F1F5F9"/>
                </a:solidFill>
                <a:latin typeface="Segoe UI"/>
              </a:rPr>
              <a:t>Bóc tách 3 cụm từ phủ định: </a:t>
            </a:r>
            <a:r>
              <a:rPr sz="1200" b="0">
                <a:solidFill>
                  <a:srgbClr val="A0ADBF"/>
                </a:solidFill>
                <a:latin typeface="Segoe UI"/>
              </a:rPr>
              <a:t>hiển thị trực tiếp trên UI mỗi lần dự đoán realtime.</a:t>
            </a:r>
          </a:p>
        </p:txBody>
      </p:sp>
      <p:sp>
        <p:nvSpPr>
          <p:cNvPr id="41" name="Oval 40"/>
          <p:cNvSpPr/>
          <p:nvPr/>
        </p:nvSpPr>
        <p:spPr>
          <a:xfrm>
            <a:off x="6528816" y="3950208"/>
            <a:ext cx="82296" cy="82296"/>
          </a:xfrm>
          <a:prstGeom prst="ellipse">
            <a:avLst/>
          </a:prstGeom>
          <a:solidFill>
            <a:srgbClr val="F4D3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711696" y="3895344"/>
            <a:ext cx="47548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F1F5F9"/>
                </a:solidFill>
                <a:latin typeface="Segoe UI"/>
              </a:rPr>
              <a:t>Kiểm chứng Negation Scope: </a:t>
            </a:r>
            <a:r>
              <a:rPr sz="1200" b="0">
                <a:solidFill>
                  <a:srgbClr val="A0ADBF"/>
                </a:solidFill>
                <a:latin typeface="Segoe UI"/>
              </a:rPr>
              <a:t>XAI cho thấy rõ cụm phủ định đã đảo cực tính đúng theo kỳ vọng.</a:t>
            </a:r>
          </a:p>
        </p:txBody>
      </p:sp>
      <p:sp>
        <p:nvSpPr>
          <p:cNvPr id="43" name="Oval 42"/>
          <p:cNvSpPr/>
          <p:nvPr/>
        </p:nvSpPr>
        <p:spPr>
          <a:xfrm>
            <a:off x="6528816" y="4846320"/>
            <a:ext cx="82296" cy="82296"/>
          </a:xfrm>
          <a:prstGeom prst="ellipse">
            <a:avLst/>
          </a:prstGeom>
          <a:solidFill>
            <a:srgbClr val="FF9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711696" y="4791456"/>
            <a:ext cx="47548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F1F5F9"/>
                </a:solidFill>
                <a:latin typeface="Segoe UI"/>
              </a:rPr>
              <a:t>Hỗ trợ debug mô hình: </a:t>
            </a:r>
            <a:r>
              <a:rPr sz="1200" b="0">
                <a:solidFill>
                  <a:srgbClr val="A0ADBF"/>
                </a:solidFill>
                <a:latin typeface="Segoe UI"/>
              </a:rPr>
              <a:t>phát hiện các từ khoá gây nhiễu, phục vụ cải tiến pipeline sau này.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B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7AA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14455" y="256032"/>
            <a:ext cx="365760" cy="365760"/>
          </a:xfrm>
          <a:prstGeom prst="rect">
            <a:avLst/>
          </a:prstGeom>
          <a:solidFill>
            <a:srgbClr val="141A24"/>
          </a:solidFill>
          <a:ln w="12700">
            <a:solidFill>
              <a:srgbClr val="2A33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1494922" y="336499"/>
            <a:ext cx="204825" cy="146304"/>
          </a:xfrm>
          <a:prstGeom prst="roundRect">
            <a:avLst>
              <a:gd name="adj" fmla="val 45000"/>
            </a:avLst>
          </a:prstGeom>
          <a:noFill/>
          <a:ln w="13970">
            <a:solidFill>
              <a:srgbClr val="7AA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38813" y="395020"/>
            <a:ext cx="27432" cy="27432"/>
          </a:xfrm>
          <a:prstGeom prst="ellipse">
            <a:avLst/>
          </a:prstGeom>
          <a:solidFill>
            <a:srgbClr val="50E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597334" y="395020"/>
            <a:ext cx="27432" cy="27432"/>
          </a:xfrm>
          <a:prstGeom prst="ellipse">
            <a:avLst/>
          </a:prstGeom>
          <a:solidFill>
            <a:srgbClr val="7AA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655855" y="395020"/>
            <a:ext cx="27432" cy="27432"/>
          </a:xfrm>
          <a:prstGeom prst="ellipse">
            <a:avLst/>
          </a:prstGeom>
          <a:solidFill>
            <a:srgbClr val="F4D3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384048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7AA7FF"/>
                </a:solidFill>
                <a:latin typeface="Segoe UI"/>
              </a:rPr>
              <a:t>CHƯƠNG 6 · TỔNG KẾT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8368"/>
            <a:ext cx="10607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F1F5F9"/>
                </a:solidFill>
                <a:latin typeface="Segoe UI"/>
              </a:rPr>
              <a:t>Đánh giá thực nghiệm, Bài học kinh nghiệm &amp; Hạn chế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298448"/>
            <a:ext cx="502920" cy="40640"/>
          </a:xfrm>
          <a:prstGeom prst="rect">
            <a:avLst/>
          </a:prstGeom>
          <a:solidFill>
            <a:srgbClr val="50E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688"/>
                </a:solidFill>
                <a:latin typeface="Segoe UI"/>
              </a:rPr>
              <a:t>Phân tích Cảm xúc Đánh giá ITviec  ·  Nhóm 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11535" y="6473952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6B7688"/>
                </a:solidFill>
                <a:latin typeface="Segoe UI"/>
              </a:rPr>
              <a:t>13 / 15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1508760"/>
            <a:ext cx="3639312" cy="4343400"/>
          </a:xfrm>
          <a:prstGeom prst="rect">
            <a:avLst/>
          </a:prstGeom>
          <a:solidFill>
            <a:srgbClr val="141A24"/>
          </a:solidFill>
          <a:ln w="12700">
            <a:solidFill>
              <a:srgbClr val="242C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1508760"/>
            <a:ext cx="3639312" cy="45720"/>
          </a:xfrm>
          <a:prstGeom prst="rect">
            <a:avLst/>
          </a:prstGeom>
          <a:solidFill>
            <a:srgbClr val="50E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1655064"/>
            <a:ext cx="327355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F1F5F9"/>
                </a:solidFill>
                <a:latin typeface="Segoe UI"/>
              </a:rPr>
              <a:t>THÀNH TỰU ĐẠT ĐƯỢC</a:t>
            </a:r>
          </a:p>
        </p:txBody>
      </p:sp>
      <p:sp>
        <p:nvSpPr>
          <p:cNvPr id="17" name="Oval 16"/>
          <p:cNvSpPr/>
          <p:nvPr/>
        </p:nvSpPr>
        <p:spPr>
          <a:xfrm>
            <a:off x="704088" y="2171700"/>
            <a:ext cx="82296" cy="82296"/>
          </a:xfrm>
          <a:prstGeom prst="ellipse">
            <a:avLst/>
          </a:prstGeom>
          <a:solidFill>
            <a:srgbClr val="50E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3544" y="2103120"/>
            <a:ext cx="305409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>
                <a:solidFill>
                  <a:srgbClr val="F1F5F9"/>
                </a:solidFill>
                <a:latin typeface="Segoe UI"/>
              </a:rPr>
              <a:t>Pipeline tiền xử lý tiếng Việt chuyên sâu, Negation Scope Detection, Greedy Matching 99.75%.</a:t>
            </a:r>
          </a:p>
        </p:txBody>
      </p:sp>
      <p:sp>
        <p:nvSpPr>
          <p:cNvPr id="19" name="Oval 18"/>
          <p:cNvSpPr/>
          <p:nvPr/>
        </p:nvSpPr>
        <p:spPr>
          <a:xfrm>
            <a:off x="704088" y="3140964"/>
            <a:ext cx="82296" cy="82296"/>
          </a:xfrm>
          <a:prstGeom prst="ellipse">
            <a:avLst/>
          </a:prstGeom>
          <a:solidFill>
            <a:srgbClr val="50E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3544" y="3072384"/>
            <a:ext cx="305409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>
                <a:solidFill>
                  <a:srgbClr val="F1F5F9"/>
                </a:solidFill>
                <a:latin typeface="Segoe UI"/>
              </a:rPr>
              <a:t>Stacking Ensemble đạt CV Macro F1 0.5619, benchmark chéo với ViSoBERT trên GPU.</a:t>
            </a:r>
          </a:p>
        </p:txBody>
      </p:sp>
      <p:sp>
        <p:nvSpPr>
          <p:cNvPr id="21" name="Oval 20"/>
          <p:cNvSpPr/>
          <p:nvPr/>
        </p:nvSpPr>
        <p:spPr>
          <a:xfrm>
            <a:off x="704088" y="3835908"/>
            <a:ext cx="82296" cy="82296"/>
          </a:xfrm>
          <a:prstGeom prst="ellipse">
            <a:avLst/>
          </a:prstGeom>
          <a:solidFill>
            <a:srgbClr val="50E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3544" y="3767328"/>
            <a:ext cx="305409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>
                <a:solidFill>
                  <a:srgbClr val="F1F5F9"/>
                </a:solidFill>
                <a:latin typeface="Segoe UI"/>
              </a:rPr>
              <a:t>Ablation Study khoa học: Text+Lexicon vượt Text-only, có kiểm soát Data Shortcut.</a:t>
            </a:r>
          </a:p>
        </p:txBody>
      </p:sp>
      <p:sp>
        <p:nvSpPr>
          <p:cNvPr id="23" name="Oval 22"/>
          <p:cNvSpPr/>
          <p:nvPr/>
        </p:nvSpPr>
        <p:spPr>
          <a:xfrm>
            <a:off x="704088" y="4805172"/>
            <a:ext cx="82296" cy="82296"/>
          </a:xfrm>
          <a:prstGeom prst="ellipse">
            <a:avLst/>
          </a:prstGeom>
          <a:solidFill>
            <a:srgbClr val="50E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3544" y="4736592"/>
            <a:ext cx="305409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>
                <a:solidFill>
                  <a:srgbClr val="F1F5F9"/>
                </a:solidFill>
                <a:latin typeface="Segoe UI"/>
              </a:rPr>
              <a:t>Web App Streamlit realtime tích hợp XAI, 55 bài kiểm thử passed.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79392" y="1508760"/>
            <a:ext cx="3639312" cy="4343400"/>
          </a:xfrm>
          <a:prstGeom prst="rect">
            <a:avLst/>
          </a:prstGeom>
          <a:solidFill>
            <a:srgbClr val="141A24"/>
          </a:solidFill>
          <a:ln w="12700">
            <a:solidFill>
              <a:srgbClr val="242C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279392" y="1508760"/>
            <a:ext cx="3639312" cy="45720"/>
          </a:xfrm>
          <a:prstGeom prst="rect">
            <a:avLst/>
          </a:prstGeom>
          <a:solidFill>
            <a:srgbClr val="F4D3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62272" y="1655064"/>
            <a:ext cx="327355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F1F5F9"/>
                </a:solidFill>
                <a:latin typeface="Segoe UI"/>
              </a:rPr>
              <a:t>BÀI HỌC KINH NGHIỆM</a:t>
            </a:r>
          </a:p>
        </p:txBody>
      </p:sp>
      <p:sp>
        <p:nvSpPr>
          <p:cNvPr id="28" name="Oval 27"/>
          <p:cNvSpPr/>
          <p:nvPr/>
        </p:nvSpPr>
        <p:spPr>
          <a:xfrm>
            <a:off x="4480560" y="2171700"/>
            <a:ext cx="82296" cy="82296"/>
          </a:xfrm>
          <a:prstGeom prst="ellipse">
            <a:avLst/>
          </a:prstGeom>
          <a:solidFill>
            <a:srgbClr val="F4D3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00016" y="2103120"/>
            <a:ext cx="305409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>
                <a:solidFill>
                  <a:srgbClr val="F1F5F9"/>
                </a:solidFill>
                <a:latin typeface="Segoe UI"/>
              </a:rPr>
              <a:t>Mất cân bằng dữ liệu cần xử lý ở cả tầng đặc trưng và tầng đánh giá (Macro F1, không chỉ Accuracy).</a:t>
            </a:r>
          </a:p>
        </p:txBody>
      </p:sp>
      <p:sp>
        <p:nvSpPr>
          <p:cNvPr id="30" name="Oval 29"/>
          <p:cNvSpPr/>
          <p:nvPr/>
        </p:nvSpPr>
        <p:spPr>
          <a:xfrm>
            <a:off x="4480560" y="3140964"/>
            <a:ext cx="82296" cy="82296"/>
          </a:xfrm>
          <a:prstGeom prst="ellipse">
            <a:avLst/>
          </a:prstGeom>
          <a:solidFill>
            <a:srgbClr val="F4D3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00016" y="3072384"/>
            <a:ext cx="305409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>
                <a:solidFill>
                  <a:srgbClr val="F1F5F9"/>
                </a:solidFill>
                <a:latin typeface="Segoe UI"/>
              </a:rPr>
              <a:t>Tiền xử lý cho ML cổ điển và cho Transformer cần thiết kế khác nhau, không dùng chung 1 pipeline.</a:t>
            </a:r>
          </a:p>
        </p:txBody>
      </p:sp>
      <p:sp>
        <p:nvSpPr>
          <p:cNvPr id="32" name="Oval 31"/>
          <p:cNvSpPr/>
          <p:nvPr/>
        </p:nvSpPr>
        <p:spPr>
          <a:xfrm>
            <a:off x="4480560" y="4110228"/>
            <a:ext cx="82296" cy="82296"/>
          </a:xfrm>
          <a:prstGeom prst="ellipse">
            <a:avLst/>
          </a:prstGeom>
          <a:solidFill>
            <a:srgbClr val="F4D3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00016" y="4041648"/>
            <a:ext cx="305409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>
                <a:solidFill>
                  <a:srgbClr val="F1F5F9"/>
                </a:solidFill>
                <a:latin typeface="Segoe UI"/>
              </a:rPr>
              <a:t>Final Test chỉ nên mở khoá 1 lần — kỷ luật này giúp kết quả đáng tin cậy hơn.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055864" y="1508760"/>
            <a:ext cx="3639312" cy="4343400"/>
          </a:xfrm>
          <a:prstGeom prst="rect">
            <a:avLst/>
          </a:prstGeom>
          <a:solidFill>
            <a:srgbClr val="141A24"/>
          </a:solidFill>
          <a:ln w="12700">
            <a:solidFill>
              <a:srgbClr val="242C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055864" y="1508760"/>
            <a:ext cx="3639312" cy="45720"/>
          </a:xfrm>
          <a:prstGeom prst="rect">
            <a:avLst/>
          </a:prstGeom>
          <a:solidFill>
            <a:srgbClr val="FF6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38744" y="1655064"/>
            <a:ext cx="327355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F1F5F9"/>
                </a:solidFill>
                <a:latin typeface="Segoe UI"/>
              </a:rPr>
              <a:t>HẠN CHẾ HIỆN TẠI</a:t>
            </a:r>
          </a:p>
        </p:txBody>
      </p:sp>
      <p:sp>
        <p:nvSpPr>
          <p:cNvPr id="37" name="Oval 36"/>
          <p:cNvSpPr/>
          <p:nvPr/>
        </p:nvSpPr>
        <p:spPr>
          <a:xfrm>
            <a:off x="8257032" y="2171700"/>
            <a:ext cx="82296" cy="82296"/>
          </a:xfrm>
          <a:prstGeom prst="ellipse">
            <a:avLst/>
          </a:prstGeom>
          <a:solidFill>
            <a:srgbClr val="FF6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476488" y="2103120"/>
            <a:ext cx="305409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>
                <a:solidFill>
                  <a:srgbClr val="F1F5F9"/>
                </a:solidFill>
                <a:latin typeface="Segoe UI"/>
              </a:rPr>
              <a:t>Recall lớp Tiêu cực còn thấp (26–35%) do dữ liệu thiểu số nghiêm trọng (6.8%).</a:t>
            </a:r>
          </a:p>
        </p:txBody>
      </p:sp>
      <p:sp>
        <p:nvSpPr>
          <p:cNvPr id="39" name="Oval 38"/>
          <p:cNvSpPr/>
          <p:nvPr/>
        </p:nvSpPr>
        <p:spPr>
          <a:xfrm>
            <a:off x="8257032" y="2866644"/>
            <a:ext cx="82296" cy="82296"/>
          </a:xfrm>
          <a:prstGeom prst="ellipse">
            <a:avLst/>
          </a:prstGeom>
          <a:solidFill>
            <a:srgbClr val="FF6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476488" y="2798064"/>
            <a:ext cx="305409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>
                <a:solidFill>
                  <a:srgbClr val="F1F5F9"/>
                </a:solidFill>
                <a:latin typeface="Segoe UI"/>
              </a:rPr>
              <a:t>ViSoBERT mới ở zero-shot, chưa fine-tune đầy đủ trên domain review IT.</a:t>
            </a:r>
          </a:p>
        </p:txBody>
      </p:sp>
      <p:sp>
        <p:nvSpPr>
          <p:cNvPr id="41" name="Oval 40"/>
          <p:cNvSpPr/>
          <p:nvPr/>
        </p:nvSpPr>
        <p:spPr>
          <a:xfrm>
            <a:off x="8257032" y="3561588"/>
            <a:ext cx="82296" cy="82296"/>
          </a:xfrm>
          <a:prstGeom prst="ellipse">
            <a:avLst/>
          </a:prstGeom>
          <a:solidFill>
            <a:srgbClr val="FF6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476488" y="3493008"/>
            <a:ext cx="305409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>
                <a:solidFill>
                  <a:srgbClr val="F1F5F9"/>
                </a:solidFill>
                <a:latin typeface="Segoe UI"/>
              </a:rPr>
              <a:t>Chưa phân tích cảm xúc ở mức khía cạnh chi tiết (Aspect-Based).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B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7AA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14455" y="256032"/>
            <a:ext cx="365760" cy="365760"/>
          </a:xfrm>
          <a:prstGeom prst="rect">
            <a:avLst/>
          </a:prstGeom>
          <a:solidFill>
            <a:srgbClr val="141A24"/>
          </a:solidFill>
          <a:ln w="12700">
            <a:solidFill>
              <a:srgbClr val="2A33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1494922" y="336499"/>
            <a:ext cx="204825" cy="146304"/>
          </a:xfrm>
          <a:prstGeom prst="roundRect">
            <a:avLst>
              <a:gd name="adj" fmla="val 45000"/>
            </a:avLst>
          </a:prstGeom>
          <a:noFill/>
          <a:ln w="13970">
            <a:solidFill>
              <a:srgbClr val="7AA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38813" y="395020"/>
            <a:ext cx="27432" cy="27432"/>
          </a:xfrm>
          <a:prstGeom prst="ellipse">
            <a:avLst/>
          </a:prstGeom>
          <a:solidFill>
            <a:srgbClr val="50E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597334" y="395020"/>
            <a:ext cx="27432" cy="27432"/>
          </a:xfrm>
          <a:prstGeom prst="ellipse">
            <a:avLst/>
          </a:prstGeom>
          <a:solidFill>
            <a:srgbClr val="7AA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655855" y="395020"/>
            <a:ext cx="27432" cy="27432"/>
          </a:xfrm>
          <a:prstGeom prst="ellipse">
            <a:avLst/>
          </a:prstGeom>
          <a:solidFill>
            <a:srgbClr val="F4D3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384048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7AA7FF"/>
                </a:solidFill>
                <a:latin typeface="Segoe UI"/>
              </a:rPr>
              <a:t>CHƯƠNG 6 · KẾT LUẬN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8368"/>
            <a:ext cx="10607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F1F5F9"/>
                </a:solidFill>
                <a:latin typeface="Segoe UI"/>
              </a:rPr>
              <a:t>Hướng phát triển tương lai &amp; Lời cảm ơn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298448"/>
            <a:ext cx="502920" cy="40640"/>
          </a:xfrm>
          <a:prstGeom prst="rect">
            <a:avLst/>
          </a:prstGeom>
          <a:solidFill>
            <a:srgbClr val="50E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688"/>
                </a:solidFill>
                <a:latin typeface="Segoe UI"/>
              </a:rPr>
              <a:t>Phân tích Cảm xúc Đánh giá ITviec  ·  Nhóm 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11535" y="6473952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6B7688"/>
                </a:solidFill>
                <a:latin typeface="Segoe UI"/>
              </a:rPr>
              <a:t>14 / 15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1508760"/>
            <a:ext cx="6400800" cy="4343400"/>
          </a:xfrm>
          <a:prstGeom prst="rect">
            <a:avLst/>
          </a:prstGeom>
          <a:solidFill>
            <a:srgbClr val="141A24"/>
          </a:solidFill>
          <a:ln w="12700">
            <a:solidFill>
              <a:srgbClr val="242C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1508760"/>
            <a:ext cx="6400800" cy="45720"/>
          </a:xfrm>
          <a:prstGeom prst="rect">
            <a:avLst/>
          </a:prstGeom>
          <a:solidFill>
            <a:srgbClr val="7AA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1655064"/>
            <a:ext cx="6035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F1F5F9"/>
                </a:solidFill>
                <a:latin typeface="Segoe UI"/>
              </a:rPr>
              <a:t>Hướng phát triển tương lai</a:t>
            </a:r>
          </a:p>
        </p:txBody>
      </p:sp>
      <p:sp>
        <p:nvSpPr>
          <p:cNvPr id="17" name="Oval 16"/>
          <p:cNvSpPr/>
          <p:nvPr/>
        </p:nvSpPr>
        <p:spPr>
          <a:xfrm>
            <a:off x="722376" y="2157984"/>
            <a:ext cx="91440" cy="91440"/>
          </a:xfrm>
          <a:prstGeom prst="ellipse">
            <a:avLst/>
          </a:prstGeom>
          <a:solidFill>
            <a:srgbClr val="7AA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3544" y="2103120"/>
            <a:ext cx="57607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00" b="1">
                <a:solidFill>
                  <a:srgbClr val="F1F5F9"/>
                </a:solidFill>
                <a:latin typeface="Segoe UI"/>
              </a:rPr>
              <a:t>Aspect-Based Sentiment Analysis (ABSA)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30" b="0">
                <a:solidFill>
                  <a:srgbClr val="A0ADBF"/>
                </a:solidFill>
                <a:latin typeface="Segoe UI"/>
              </a:rPr>
              <a:t>Phân tích cảm xúc chi tiết theo từng khía cạnh (Lương, OT, Quản lý...) thay vì chỉ cảm xúc tổng thể.</a:t>
            </a:r>
          </a:p>
        </p:txBody>
      </p:sp>
      <p:sp>
        <p:nvSpPr>
          <p:cNvPr id="19" name="Oval 18"/>
          <p:cNvSpPr/>
          <p:nvPr/>
        </p:nvSpPr>
        <p:spPr>
          <a:xfrm>
            <a:off x="722376" y="3090672"/>
            <a:ext cx="91440" cy="91440"/>
          </a:xfrm>
          <a:prstGeom prst="ellipse">
            <a:avLst/>
          </a:prstGeom>
          <a:solidFill>
            <a:srgbClr val="50E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3544" y="3035808"/>
            <a:ext cx="57607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00" b="1">
                <a:solidFill>
                  <a:srgbClr val="F1F5F9"/>
                </a:solidFill>
                <a:latin typeface="Segoe UI"/>
              </a:rPr>
              <a:t>Fine-tuning toàn phần ViSoBERT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30" b="0">
                <a:solidFill>
                  <a:srgbClr val="A0ADBF"/>
                </a:solidFill>
                <a:latin typeface="Segoe UI"/>
              </a:rPr>
              <a:t>Huấn luyện lại trên domain review IT tiếng Việt để khai thác tối đa năng lực Transformer.</a:t>
            </a:r>
          </a:p>
        </p:txBody>
      </p:sp>
      <p:sp>
        <p:nvSpPr>
          <p:cNvPr id="21" name="Oval 20"/>
          <p:cNvSpPr/>
          <p:nvPr/>
        </p:nvSpPr>
        <p:spPr>
          <a:xfrm>
            <a:off x="722376" y="4023360"/>
            <a:ext cx="91440" cy="91440"/>
          </a:xfrm>
          <a:prstGeom prst="ellipse">
            <a:avLst/>
          </a:prstGeom>
          <a:solidFill>
            <a:srgbClr val="F4D3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3544" y="3968496"/>
            <a:ext cx="57607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00" b="1">
                <a:solidFill>
                  <a:srgbClr val="F1F5F9"/>
                </a:solidFill>
                <a:latin typeface="Segoe UI"/>
              </a:rPr>
              <a:t>Ứng dụng LLM Agent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30" b="0">
                <a:solidFill>
                  <a:srgbClr val="A0ADBF"/>
                </a:solidFill>
                <a:latin typeface="Segoe UI"/>
              </a:rPr>
              <a:t>Tự động tổng hợp báo cáo insight nhân sự theo thời gian thực cho từng doanh nghiệp.</a:t>
            </a:r>
          </a:p>
        </p:txBody>
      </p:sp>
      <p:sp>
        <p:nvSpPr>
          <p:cNvPr id="23" name="Oval 22"/>
          <p:cNvSpPr/>
          <p:nvPr/>
        </p:nvSpPr>
        <p:spPr>
          <a:xfrm>
            <a:off x="722376" y="4956048"/>
            <a:ext cx="91440" cy="91440"/>
          </a:xfrm>
          <a:prstGeom prst="ellipse">
            <a:avLst/>
          </a:prstGeom>
          <a:solidFill>
            <a:srgbClr val="FF9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3544" y="4901184"/>
            <a:ext cx="57607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00" b="1">
                <a:solidFill>
                  <a:srgbClr val="F1F5F9"/>
                </a:solidFill>
                <a:latin typeface="Segoe UI"/>
              </a:rPr>
              <a:t>Mở rộng dữ liệu đa nguồn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30" b="0">
                <a:solidFill>
                  <a:srgbClr val="A0ADBF"/>
                </a:solidFill>
                <a:latin typeface="Segoe UI"/>
              </a:rPr>
              <a:t>Thu thập thêm review từ các nền tảng tuyển dụng khác để tăng độ bao phủ &amp; cân bằng lớp.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086600" y="1508760"/>
            <a:ext cx="4434840" cy="4343400"/>
          </a:xfrm>
          <a:prstGeom prst="rect">
            <a:avLst/>
          </a:prstGeom>
          <a:solidFill>
            <a:srgbClr val="141A24"/>
          </a:solidFill>
          <a:ln w="12700">
            <a:solidFill>
              <a:srgbClr val="7AA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086600" y="1508760"/>
            <a:ext cx="4434840" cy="54864"/>
          </a:xfrm>
          <a:prstGeom prst="rect">
            <a:avLst/>
          </a:prstGeom>
          <a:solidFill>
            <a:srgbClr val="7AA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60920" y="1783080"/>
            <a:ext cx="502920" cy="502920"/>
          </a:xfrm>
          <a:prstGeom prst="rect">
            <a:avLst/>
          </a:prstGeom>
          <a:solidFill>
            <a:srgbClr val="141A24"/>
          </a:solidFill>
          <a:ln w="12700">
            <a:solidFill>
              <a:srgbClr val="2A33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471562" y="1893722"/>
            <a:ext cx="281635" cy="201168"/>
          </a:xfrm>
          <a:prstGeom prst="roundRect">
            <a:avLst>
              <a:gd name="adj" fmla="val 45000"/>
            </a:avLst>
          </a:prstGeom>
          <a:noFill/>
          <a:ln w="13970">
            <a:solidFill>
              <a:srgbClr val="7AA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531912" y="1974189"/>
            <a:ext cx="37719" cy="37719"/>
          </a:xfrm>
          <a:prstGeom prst="ellipse">
            <a:avLst/>
          </a:prstGeom>
          <a:solidFill>
            <a:srgbClr val="50E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612379" y="1974189"/>
            <a:ext cx="37719" cy="37719"/>
          </a:xfrm>
          <a:prstGeom prst="ellipse">
            <a:avLst/>
          </a:prstGeom>
          <a:solidFill>
            <a:srgbClr val="7AA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692846" y="1974189"/>
            <a:ext cx="37719" cy="37719"/>
          </a:xfrm>
          <a:prstGeom prst="ellipse">
            <a:avLst/>
          </a:prstGeom>
          <a:solidFill>
            <a:srgbClr val="F4D3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60920" y="2468880"/>
            <a:ext cx="3886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7AA7FF"/>
                </a:solidFill>
                <a:latin typeface="Segoe UI"/>
              </a:rPr>
              <a:t>LỜI CẢM ƠN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60920" y="2880360"/>
            <a:ext cx="38862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A0ADBF"/>
                </a:solidFill>
                <a:latin typeface="Segoe UI"/>
              </a:rPr>
              <a:t>Nhóm 4 xin chân thành cảm ơn Thầy Đặng Văn Thìn đã tận tình hướng dẫn, cùng Hội đồng đánh giá đã dành thời gian theo dõi phần trình bày của nhóm.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360920" y="4114800"/>
            <a:ext cx="3886200" cy="12700"/>
          </a:xfrm>
          <a:prstGeom prst="rect">
            <a:avLst/>
          </a:prstGeom>
          <a:solidFill>
            <a:srgbClr val="242C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60920" y="4297680"/>
            <a:ext cx="3886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B7688"/>
                </a:solidFill>
                <a:latin typeface="Segoe UI"/>
              </a:rPr>
              <a:t>TIẾP THEO BƯỚC VÀO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60920" y="4636008"/>
            <a:ext cx="3886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F1F5F9"/>
                </a:solidFill>
                <a:latin typeface="Segoe UI"/>
              </a:rPr>
              <a:t>DEMO TRỰC TIẾP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60920" y="5303520"/>
            <a:ext cx="3886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50E3A4"/>
                </a:solidFill>
                <a:latin typeface="Segoe UI"/>
              </a:rPr>
              <a:t>Phạm Thành Trung trình bày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